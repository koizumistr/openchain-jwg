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5"/>
  </p:notesMasterIdLst>
  <p:sldIdLst>
    <p:sldId id="257" r:id="rId2"/>
    <p:sldId id="258" r:id="rId3"/>
    <p:sldId id="259" r:id="rId4"/>
    <p:sldId id="835" r:id="rId5"/>
    <p:sldId id="836" r:id="rId6"/>
    <p:sldId id="837" r:id="rId7"/>
    <p:sldId id="271" r:id="rId8"/>
    <p:sldId id="272" r:id="rId9"/>
    <p:sldId id="838" r:id="rId10"/>
    <p:sldId id="839" r:id="rId11"/>
    <p:sldId id="840" r:id="rId12"/>
    <p:sldId id="276" r:id="rId13"/>
    <p:sldId id="270"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6" d="100"/>
          <a:sy n="116" d="100"/>
        </p:scale>
        <p:origin x="27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2026/5/26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eekfeminism.fandom.com/wiki/Conference_anti-harassment/Responding_to_reports" TargetMode="External"/><Relationship Id="rId2" Type="http://schemas.openxmlformats.org/officeDocument/2006/relationships/hyperlink" Target="mailto:awatanabe@evangelist.linuxfoundation.org"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2026</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lang="en-US" altLang="ja-JP" sz="4800" dirty="0">
                <a:solidFill>
                  <a:schemeClr val="bg1"/>
                </a:solidFill>
                <a:latin typeface="BIZ UDPゴシック" panose="020B0400000000000000" pitchFamily="50" charset="-128"/>
                <a:ea typeface="BIZ UDPゴシック" panose="020B0400000000000000" pitchFamily="50" charset="-128"/>
              </a:rPr>
              <a:t>5</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2026/5/27</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t>
            </a:r>
            <a:r>
              <a:rPr lang="en-US" sz="2400" dirty="0"/>
              <a:t> antitrust-policy.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2"/>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3"/>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教育資料応用編の進捗状況について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サブリードの状況について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教育資料応用編の進捗状況について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ごめんなさい、こちらは進捗ありません。</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rPr>
              <a:t>Word</a:t>
            </a:r>
            <a:r>
              <a:rPr lang="ja-JP" altLang="en-US" dirty="0">
                <a:latin typeface="BIZ UDPゴシック" panose="020B0400000000000000" pitchFamily="50" charset="-128"/>
                <a:ea typeface="BIZ UDPゴシック" panose="020B0400000000000000" pitchFamily="50" charset="-128"/>
              </a:rPr>
              <a:t>化して（担当</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小泉）、最終的な確認をしてもらう（担当</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皆さん）ですが、いろいろありまして、、、</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8530-653D-E404-4CD0-B92DC6C18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1B4811-F477-1CCE-6CC7-67F406DDE148}"/>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サブリードの状況について</a:t>
            </a:r>
            <a:br>
              <a:rPr lang="ja-JP" altLang="en-US"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1CA1EF1C-185F-96A4-7EA4-15533A5F491A}"/>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指名していいかな？</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5447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241FB7-9214-CC9A-A86D-64F927FFEB7C}"/>
              </a:ext>
            </a:extLst>
          </p:cNvPr>
          <p:cNvSpPr>
            <a:spLocks noGrp="1"/>
          </p:cNvSpPr>
          <p:nvPr>
            <p:ph type="title"/>
          </p:nvPr>
        </p:nvSpPr>
        <p:spPr/>
        <p:txBody>
          <a:bodyPr/>
          <a:lstStyle/>
          <a:p>
            <a:r>
              <a:rPr kumimoji="1" lang="en-US" altLang="ja-JP" dirty="0">
                <a:latin typeface="BIZ UDPゴシック" panose="020B0400000000000000" pitchFamily="50" charset="-128"/>
                <a:ea typeface="BIZ UDPゴシック" panose="020B0400000000000000" pitchFamily="50" charset="-128"/>
              </a:rPr>
              <a:t>SBOM</a:t>
            </a:r>
            <a:r>
              <a:rPr kumimoji="1" lang="ja-JP" altLang="en-US" dirty="0">
                <a:latin typeface="BIZ UDPゴシック" panose="020B0400000000000000" pitchFamily="50" charset="-128"/>
                <a:ea typeface="BIZ UDPゴシック" panose="020B0400000000000000" pitchFamily="50" charset="-128"/>
              </a:rPr>
              <a:t>入門</a:t>
            </a:r>
          </a:p>
        </p:txBody>
      </p:sp>
      <p:sp>
        <p:nvSpPr>
          <p:cNvPr id="3" name="テキスト プレースホルダー 2">
            <a:extLst>
              <a:ext uri="{FF2B5EF4-FFF2-40B4-BE49-F238E27FC236}">
                <a16:creationId xmlns:a16="http://schemas.microsoft.com/office/drawing/2014/main" id="{B0F68CD4-B390-9783-37CE-BE9E6E6B43D8}"/>
              </a:ext>
            </a:extLst>
          </p:cNvPr>
          <p:cNvSpPr>
            <a:spLocks noGrp="1"/>
          </p:cNvSpPr>
          <p:nvPr>
            <p:ph type="body" idx="1"/>
          </p:nvPr>
        </p:nvSpPr>
        <p:spPr/>
        <p:txBody>
          <a:bodyPr/>
          <a:lstStyle/>
          <a:p>
            <a:pPr marL="152396" indent="0">
              <a:buNone/>
            </a:pPr>
            <a:r>
              <a:rPr lang="en-US" altLang="ja-JP" dirty="0">
                <a:hlinkClick r:id="rId2"/>
              </a:rPr>
              <a:t>OpenChain-JWG/subgroups/sbom-sg/outcomes/SPDX-Lite/Guideline/SPDX-Lite-Guideline_jp.md at master · OpenChain-Project/OpenChain-JWG · GitHub</a:t>
            </a:r>
            <a:r>
              <a:rPr lang="ja-JP" altLang="en-US" dirty="0"/>
              <a:t> を読んでいきましょう。</a:t>
            </a:r>
            <a:endParaRPr lang="en-US" altLang="ja-JP" dirty="0"/>
          </a:p>
          <a:p>
            <a:pPr marL="152396" indent="0">
              <a:buNone/>
            </a:pPr>
            <a:endParaRPr kumimoji="1" lang="en-US" altLang="ja-JP" dirty="0"/>
          </a:p>
          <a:p>
            <a:pPr marL="152396" indent="0">
              <a:buNone/>
            </a:pPr>
            <a:endParaRPr kumimoji="1" lang="en-US" altLang="ja-JP" dirty="0"/>
          </a:p>
          <a:p>
            <a:pPr marL="152396" indent="0">
              <a:buNone/>
            </a:pPr>
            <a:r>
              <a:rPr lang="ja-JP" altLang="en-US" dirty="0"/>
              <a:t>問）セキュリティのことが書いてないのだが</a:t>
            </a:r>
            <a:endParaRPr lang="en-US" altLang="ja-JP" dirty="0"/>
          </a:p>
          <a:p>
            <a:pPr marL="152396" indent="0">
              <a:buNone/>
            </a:pPr>
            <a:r>
              <a:rPr kumimoji="1" lang="ja-JP" altLang="en-US" dirty="0"/>
              <a:t>答）</a:t>
            </a:r>
            <a:r>
              <a:rPr kumimoji="1" lang="en-US" altLang="ja-JP" dirty="0"/>
              <a:t>OpenChain</a:t>
            </a:r>
            <a:r>
              <a:rPr lang="ja-JP" altLang="en-US" dirty="0"/>
              <a:t>も最近はセキュリティにも手を広げていますが、</a:t>
            </a:r>
            <a:r>
              <a:rPr lang="en-US" altLang="ja-JP" dirty="0"/>
              <a:t>OpenChain</a:t>
            </a:r>
            <a:r>
              <a:rPr lang="ja-JP" altLang="en-US" dirty="0"/>
              <a:t>の出発点はライセンスコンプライアンスでした。当時の資料だとご理解ください。大幅改定は意図していませんが、ちょっとした追記でセキュリティの視点も追加できるよ、という提案であれば大歓迎です。</a:t>
            </a:r>
            <a:endParaRPr lang="en-US" altLang="ja-JP" dirty="0"/>
          </a:p>
          <a:p>
            <a:pPr marL="152396" indent="0">
              <a:buNone/>
            </a:pPr>
            <a:endParaRPr lang="en-US" altLang="ja-JP" dirty="0"/>
          </a:p>
          <a:p>
            <a:pPr marL="152396" indent="0">
              <a:buNone/>
            </a:pPr>
            <a:r>
              <a:rPr lang="ja-JP" altLang="en-US" dirty="0"/>
              <a:t>問）</a:t>
            </a:r>
            <a:r>
              <a:rPr lang="en-US" altLang="ja-JP" dirty="0"/>
              <a:t>SPDX</a:t>
            </a:r>
            <a:r>
              <a:rPr lang="ja-JP" altLang="en-US" dirty="0"/>
              <a:t>の古いバージョンの話では</a:t>
            </a:r>
            <a:endParaRPr lang="en-US" altLang="ja-JP" dirty="0"/>
          </a:p>
          <a:p>
            <a:pPr marL="152396" indent="0">
              <a:buNone/>
            </a:pPr>
            <a:r>
              <a:rPr lang="ja-JP" altLang="en-US" dirty="0"/>
              <a:t>答）その通りですが、古い方がより単純で分かりやすく、取っ掛かりとしては適切と思ってます。</a:t>
            </a:r>
            <a:endParaRPr lang="en-US" altLang="ja-JP" dirty="0"/>
          </a:p>
          <a:p>
            <a:pPr marL="152396" indent="0">
              <a:buNone/>
            </a:pPr>
            <a:endParaRPr kumimoji="1" lang="ja-JP" altLang="en-US" dirty="0"/>
          </a:p>
        </p:txBody>
      </p:sp>
    </p:spTree>
    <p:extLst>
      <p:ext uri="{BB962C8B-B14F-4D97-AF65-F5344CB8AC3E}">
        <p14:creationId xmlns:p14="http://schemas.microsoft.com/office/powerpoint/2010/main" val="2974871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1700</Words>
  <Application>Microsoft Office PowerPoint</Application>
  <PresentationFormat>ワイド画面</PresentationFormat>
  <Paragraphs>72</Paragraphs>
  <Slides>13</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13</vt:i4>
      </vt:variant>
    </vt:vector>
  </HeadingPairs>
  <TitlesOfParts>
    <vt:vector size="23"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2026年度 5月</vt:lpstr>
      <vt:lpstr>Anti-Trust Policy Notice</vt:lpstr>
      <vt:lpstr>独占禁止法順守ポリシー (Antitrust Policy)</vt:lpstr>
      <vt:lpstr>Code of Conduct</vt:lpstr>
      <vt:lpstr>【参考】行動規範 (Code of Conduct) </vt:lpstr>
      <vt:lpstr>【参考】行動規範 (Code of Conduct) </vt:lpstr>
      <vt:lpstr>目次</vt:lpstr>
      <vt:lpstr>この会の進め方について（再掲、一部追記あり）</vt:lpstr>
      <vt:lpstr>教育資料応用編の進捗状況について </vt:lpstr>
      <vt:lpstr>サブリードの状況について </vt:lpstr>
      <vt:lpstr>SBOM入門</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21</cp:revision>
  <dcterms:created xsi:type="dcterms:W3CDTF">2023-08-30T04:38:36Z</dcterms:created>
  <dcterms:modified xsi:type="dcterms:W3CDTF">2026-05-26T13:05:34Z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