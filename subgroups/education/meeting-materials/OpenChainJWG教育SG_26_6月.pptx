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14"/>
  </p:notesMasterIdLst>
  <p:sldIdLst>
    <p:sldId id="257" r:id="rId2"/>
    <p:sldId id="258" r:id="rId3"/>
    <p:sldId id="259" r:id="rId4"/>
    <p:sldId id="835" r:id="rId5"/>
    <p:sldId id="836" r:id="rId6"/>
    <p:sldId id="837" r:id="rId7"/>
    <p:sldId id="272" r:id="rId8"/>
    <p:sldId id="271" r:id="rId9"/>
    <p:sldId id="838" r:id="rId10"/>
    <p:sldId id="840" r:id="rId11"/>
    <p:sldId id="276" r:id="rId12"/>
    <p:sldId id="270"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0" d="100"/>
          <a:sy n="80" d="100"/>
        </p:scale>
        <p:origin x="60" y="2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89F198-3590-4483-8408-2C296A1700D5}" type="datetimeFigureOut">
              <a:rPr kumimoji="1" lang="ja-JP" altLang="en-US" smtClean="0"/>
              <a:t>2026/6/23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E7770-311C-4A26-9E30-E21D700DECB4}" type="slidenum">
              <a:rPr kumimoji="1" lang="ja-JP" altLang="en-US" smtClean="0"/>
              <a:t>‹#›</a:t>
            </a:fld>
            <a:endParaRPr kumimoji="1" lang="ja-JP" altLang="en-US"/>
          </a:p>
        </p:txBody>
      </p:sp>
    </p:spTree>
    <p:extLst>
      <p:ext uri="{BB962C8B-B14F-4D97-AF65-F5344CB8AC3E}">
        <p14:creationId xmlns:p14="http://schemas.microsoft.com/office/powerpoint/2010/main" val="21396197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462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930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30515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openchainproject.org/"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Dark 1">
  <p:cSld name="TITLE_3">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797467" y="1635171"/>
            <a:ext cx="7378000" cy="25260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5600">
                <a:solidFill>
                  <a:schemeClr val="lt1"/>
                </a:solidFill>
                <a:latin typeface="+mj-lt"/>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30" name="Google Shape;30;p4"/>
          <p:cNvSpPr txBox="1">
            <a:spLocks noGrp="1"/>
          </p:cNvSpPr>
          <p:nvPr>
            <p:ph type="subTitle" idx="1"/>
          </p:nvPr>
        </p:nvSpPr>
        <p:spPr>
          <a:xfrm>
            <a:off x="797467" y="4342608"/>
            <a:ext cx="6633175" cy="5772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800">
                <a:solidFill>
                  <a:schemeClr val="lt1"/>
                </a:solidFill>
                <a:latin typeface="+mj-lt"/>
              </a:defRPr>
            </a:lvl1pPr>
            <a:lvl2pPr lvl="1" rtl="0">
              <a:lnSpc>
                <a:spcPct val="100000"/>
              </a:lnSpc>
              <a:spcBef>
                <a:spcPts val="0"/>
              </a:spcBef>
              <a:spcAft>
                <a:spcPts val="0"/>
              </a:spcAft>
              <a:buClr>
                <a:schemeClr val="lt1"/>
              </a:buClr>
              <a:buSzPts val="2100"/>
              <a:buNone/>
              <a:defRPr sz="2800">
                <a:solidFill>
                  <a:schemeClr val="lt1"/>
                </a:solidFill>
              </a:defRPr>
            </a:lvl2pPr>
            <a:lvl3pPr lvl="2" rtl="0">
              <a:lnSpc>
                <a:spcPct val="100000"/>
              </a:lnSpc>
              <a:spcBef>
                <a:spcPts val="0"/>
              </a:spcBef>
              <a:spcAft>
                <a:spcPts val="0"/>
              </a:spcAft>
              <a:buClr>
                <a:schemeClr val="lt1"/>
              </a:buClr>
              <a:buSzPts val="2100"/>
              <a:buNone/>
              <a:defRPr sz="2800">
                <a:solidFill>
                  <a:schemeClr val="lt1"/>
                </a:solidFill>
              </a:defRPr>
            </a:lvl3pPr>
            <a:lvl4pPr lvl="3" rtl="0">
              <a:lnSpc>
                <a:spcPct val="100000"/>
              </a:lnSpc>
              <a:spcBef>
                <a:spcPts val="0"/>
              </a:spcBef>
              <a:spcAft>
                <a:spcPts val="0"/>
              </a:spcAft>
              <a:buClr>
                <a:schemeClr val="lt1"/>
              </a:buClr>
              <a:buSzPts val="2100"/>
              <a:buNone/>
              <a:defRPr sz="2800">
                <a:solidFill>
                  <a:schemeClr val="lt1"/>
                </a:solidFill>
              </a:defRPr>
            </a:lvl4pPr>
            <a:lvl5pPr lvl="4" rtl="0">
              <a:lnSpc>
                <a:spcPct val="100000"/>
              </a:lnSpc>
              <a:spcBef>
                <a:spcPts val="0"/>
              </a:spcBef>
              <a:spcAft>
                <a:spcPts val="0"/>
              </a:spcAft>
              <a:buClr>
                <a:schemeClr val="lt1"/>
              </a:buClr>
              <a:buSzPts val="2100"/>
              <a:buNone/>
              <a:defRPr sz="2800">
                <a:solidFill>
                  <a:schemeClr val="lt1"/>
                </a:solidFill>
              </a:defRPr>
            </a:lvl5pPr>
            <a:lvl6pPr lvl="5" rtl="0">
              <a:lnSpc>
                <a:spcPct val="100000"/>
              </a:lnSpc>
              <a:spcBef>
                <a:spcPts val="0"/>
              </a:spcBef>
              <a:spcAft>
                <a:spcPts val="0"/>
              </a:spcAft>
              <a:buClr>
                <a:schemeClr val="lt1"/>
              </a:buClr>
              <a:buSzPts val="2100"/>
              <a:buNone/>
              <a:defRPr sz="2800">
                <a:solidFill>
                  <a:schemeClr val="lt1"/>
                </a:solidFill>
              </a:defRPr>
            </a:lvl6pPr>
            <a:lvl7pPr lvl="6" rtl="0">
              <a:lnSpc>
                <a:spcPct val="100000"/>
              </a:lnSpc>
              <a:spcBef>
                <a:spcPts val="0"/>
              </a:spcBef>
              <a:spcAft>
                <a:spcPts val="0"/>
              </a:spcAft>
              <a:buClr>
                <a:schemeClr val="lt1"/>
              </a:buClr>
              <a:buSzPts val="2100"/>
              <a:buNone/>
              <a:defRPr sz="2800">
                <a:solidFill>
                  <a:schemeClr val="lt1"/>
                </a:solidFill>
              </a:defRPr>
            </a:lvl7pPr>
            <a:lvl8pPr lvl="7" rtl="0">
              <a:lnSpc>
                <a:spcPct val="100000"/>
              </a:lnSpc>
              <a:spcBef>
                <a:spcPts val="0"/>
              </a:spcBef>
              <a:spcAft>
                <a:spcPts val="0"/>
              </a:spcAft>
              <a:buClr>
                <a:schemeClr val="lt1"/>
              </a:buClr>
              <a:buSzPts val="2100"/>
              <a:buNone/>
              <a:defRPr sz="2800">
                <a:solidFill>
                  <a:schemeClr val="lt1"/>
                </a:solidFill>
              </a:defRPr>
            </a:lvl8pPr>
            <a:lvl9pPr lvl="8" rtl="0">
              <a:lnSpc>
                <a:spcPct val="100000"/>
              </a:lnSpc>
              <a:spcBef>
                <a:spcPts val="0"/>
              </a:spcBef>
              <a:spcAft>
                <a:spcPts val="0"/>
              </a:spcAft>
              <a:buClr>
                <a:schemeClr val="lt1"/>
              </a:buClr>
              <a:buSzPts val="2100"/>
              <a:buNone/>
              <a:defRPr sz="2800">
                <a:solidFill>
                  <a:schemeClr val="lt1"/>
                </a:solidFill>
              </a:defRPr>
            </a:lvl9pPr>
          </a:lstStyle>
          <a:p>
            <a:r>
              <a:rPr lang="en-US" altLang="ja-JP"/>
              <a:t>Click to edit Master subtitle style</a:t>
            </a:r>
            <a:endParaRPr dirty="0"/>
          </a:p>
        </p:txBody>
      </p:sp>
      <p:pic>
        <p:nvPicPr>
          <p:cNvPr id="31" name="Google Shape;31;p4"/>
          <p:cNvPicPr preferRelativeResize="0"/>
          <p:nvPr/>
        </p:nvPicPr>
        <p:blipFill>
          <a:blip r:embed="rId2">
            <a:alphaModFix/>
          </a:blip>
          <a:stretch>
            <a:fillRect/>
          </a:stretch>
        </p:blipFill>
        <p:spPr>
          <a:xfrm rot="5400000">
            <a:off x="11083137" y="5735579"/>
            <a:ext cx="1126457" cy="1118400"/>
          </a:xfrm>
          <a:prstGeom prst="rect">
            <a:avLst/>
          </a:prstGeom>
          <a:noFill/>
          <a:ln>
            <a:noFill/>
          </a:ln>
        </p:spPr>
      </p:pic>
      <p:sp>
        <p:nvSpPr>
          <p:cNvPr id="32" name="Google Shape;32;p4"/>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3" name="Google Shape;33;p4"/>
          <p:cNvSpPr/>
          <p:nvPr/>
        </p:nvSpPr>
        <p:spPr>
          <a:xfrm>
            <a:off x="10945200" y="0"/>
            <a:ext cx="1246800" cy="1246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pic>
        <p:nvPicPr>
          <p:cNvPr id="34" name="Google Shape;34;p4"/>
          <p:cNvPicPr preferRelativeResize="0"/>
          <p:nvPr/>
        </p:nvPicPr>
        <p:blipFill>
          <a:blip r:embed="rId3">
            <a:alphaModFix/>
          </a:blip>
          <a:stretch>
            <a:fillRect/>
          </a:stretch>
        </p:blipFill>
        <p:spPr>
          <a:xfrm>
            <a:off x="9698400" y="4468"/>
            <a:ext cx="1246800" cy="1237881"/>
          </a:xfrm>
          <a:prstGeom prst="rect">
            <a:avLst/>
          </a:prstGeom>
          <a:noFill/>
          <a:ln>
            <a:noFill/>
          </a:ln>
        </p:spPr>
      </p:pic>
      <p:pic>
        <p:nvPicPr>
          <p:cNvPr id="35" name="Google Shape;35;p4"/>
          <p:cNvPicPr preferRelativeResize="0"/>
          <p:nvPr/>
        </p:nvPicPr>
        <p:blipFill>
          <a:blip r:embed="rId4">
            <a:alphaModFix/>
          </a:blip>
          <a:stretch>
            <a:fillRect/>
          </a:stretch>
        </p:blipFill>
        <p:spPr>
          <a:xfrm>
            <a:off x="940784" y="5646707"/>
            <a:ext cx="1592899" cy="5248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3046102" y="5496905"/>
            <a:ext cx="1440365" cy="824404"/>
          </a:xfrm>
          <a:prstGeom prst="rect">
            <a:avLst/>
          </a:prstGeom>
        </p:spPr>
      </p:pic>
      <p:pic>
        <p:nvPicPr>
          <p:cNvPr id="3" name="Picture 2">
            <a:extLst>
              <a:ext uri="{FF2B5EF4-FFF2-40B4-BE49-F238E27FC236}">
                <a16:creationId xmlns:a16="http://schemas.microsoft.com/office/drawing/2014/main" id="{2BC99040-D52B-5FAC-01DD-AA11C386147B}"/>
              </a:ext>
            </a:extLst>
          </p:cNvPr>
          <p:cNvPicPr>
            <a:picLocks noChangeAspect="1"/>
          </p:cNvPicPr>
          <p:nvPr userDrawn="1"/>
        </p:nvPicPr>
        <p:blipFill>
          <a:blip r:embed="rId6"/>
          <a:stretch>
            <a:fillRect/>
          </a:stretch>
        </p:blipFill>
        <p:spPr>
          <a:xfrm>
            <a:off x="7430642" y="4755764"/>
            <a:ext cx="3522133" cy="18796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11243921" y="5908223"/>
            <a:ext cx="965600" cy="9656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2" name="Google Shape;62;p9"/>
          <p:cNvSpPr/>
          <p:nvPr/>
        </p:nvSpPr>
        <p:spPr>
          <a:xfrm rot="10800000">
            <a:off x="10268701" y="5908267"/>
            <a:ext cx="975200" cy="9740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3" name="Google Shape;63;p9"/>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mj-l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ltLang="ja-JP"/>
              <a:t>Click to edit Master title style</a:t>
            </a:r>
            <a:endParaRPr dirty="0"/>
          </a:p>
        </p:txBody>
      </p:sp>
      <p:sp>
        <p:nvSpPr>
          <p:cNvPr id="64" name="Google Shape;64;p9"/>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65" name="Google Shape;65;p9"/>
          <p:cNvSpPr/>
          <p:nvPr/>
        </p:nvSpPr>
        <p:spPr>
          <a:xfrm>
            <a:off x="11224800" y="0"/>
            <a:ext cx="967200" cy="967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6" name="Google Shape;66;p9"/>
          <p:cNvSpPr txBox="1">
            <a:spLocks noGrp="1"/>
          </p:cNvSpPr>
          <p:nvPr>
            <p:ph type="body" idx="1"/>
          </p:nvPr>
        </p:nvSpPr>
        <p:spPr>
          <a:xfrm>
            <a:off x="373800" y="1688600"/>
            <a:ext cx="11360800" cy="44520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atin typeface="+mn-lt"/>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ltLang="ja-JP"/>
              <a:t>Click to edit Master text styles</a:t>
            </a:r>
          </a:p>
        </p:txBody>
      </p:sp>
      <p:pic>
        <p:nvPicPr>
          <p:cNvPr id="67" name="Google Shape;67;p9"/>
          <p:cNvPicPr preferRelativeResize="0"/>
          <p:nvPr/>
        </p:nvPicPr>
        <p:blipFill>
          <a:blip r:embed="rId2">
            <a:alphaModFix/>
          </a:blip>
          <a:stretch>
            <a:fillRect/>
          </a:stretch>
        </p:blipFill>
        <p:spPr>
          <a:xfrm>
            <a:off x="253780" y="6201600"/>
            <a:ext cx="1294373" cy="426467"/>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754458" y="6157912"/>
            <a:ext cx="897764" cy="5138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6" y="5504409"/>
            <a:ext cx="1353600" cy="13536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52" name="Google Shape;52;p7"/>
          <p:cNvSpPr txBox="1">
            <a:spLocks noGrp="1"/>
          </p:cNvSpPr>
          <p:nvPr>
            <p:ph type="title"/>
          </p:nvPr>
        </p:nvSpPr>
        <p:spPr>
          <a:xfrm>
            <a:off x="797467" y="2869796"/>
            <a:ext cx="10962800" cy="1118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5600">
                <a:solidFill>
                  <a:schemeClr val="lt1"/>
                </a:solidFill>
                <a:latin typeface="+mj-lt"/>
              </a:defRPr>
            </a:lvl1pPr>
            <a:lvl2pPr lvl="1">
              <a:spcBef>
                <a:spcPts val="0"/>
              </a:spcBef>
              <a:spcAft>
                <a:spcPts val="0"/>
              </a:spcAft>
              <a:buClr>
                <a:schemeClr val="lt1"/>
              </a:buClr>
              <a:buSzPts val="4200"/>
              <a:buNone/>
              <a:defRPr sz="5600">
                <a:solidFill>
                  <a:schemeClr val="lt1"/>
                </a:solidFill>
              </a:defRPr>
            </a:lvl2pPr>
            <a:lvl3pPr lvl="2">
              <a:spcBef>
                <a:spcPts val="0"/>
              </a:spcBef>
              <a:spcAft>
                <a:spcPts val="0"/>
              </a:spcAft>
              <a:buClr>
                <a:schemeClr val="lt1"/>
              </a:buClr>
              <a:buSzPts val="4200"/>
              <a:buNone/>
              <a:defRPr sz="5600">
                <a:solidFill>
                  <a:schemeClr val="lt1"/>
                </a:solidFill>
              </a:defRPr>
            </a:lvl3pPr>
            <a:lvl4pPr lvl="3">
              <a:spcBef>
                <a:spcPts val="0"/>
              </a:spcBef>
              <a:spcAft>
                <a:spcPts val="0"/>
              </a:spcAft>
              <a:buClr>
                <a:schemeClr val="lt1"/>
              </a:buClr>
              <a:buSzPts val="4200"/>
              <a:buNone/>
              <a:defRPr sz="5600">
                <a:solidFill>
                  <a:schemeClr val="lt1"/>
                </a:solidFill>
              </a:defRPr>
            </a:lvl4pPr>
            <a:lvl5pPr lvl="4">
              <a:spcBef>
                <a:spcPts val="0"/>
              </a:spcBef>
              <a:spcAft>
                <a:spcPts val="0"/>
              </a:spcAft>
              <a:buClr>
                <a:schemeClr val="lt1"/>
              </a:buClr>
              <a:buSzPts val="4200"/>
              <a:buNone/>
              <a:defRPr sz="5600">
                <a:solidFill>
                  <a:schemeClr val="lt1"/>
                </a:solidFill>
              </a:defRPr>
            </a:lvl5pPr>
            <a:lvl6pPr lvl="5">
              <a:spcBef>
                <a:spcPts val="0"/>
              </a:spcBef>
              <a:spcAft>
                <a:spcPts val="0"/>
              </a:spcAft>
              <a:buClr>
                <a:schemeClr val="lt1"/>
              </a:buClr>
              <a:buSzPts val="4200"/>
              <a:buNone/>
              <a:defRPr sz="5600">
                <a:solidFill>
                  <a:schemeClr val="lt1"/>
                </a:solidFill>
              </a:defRPr>
            </a:lvl6pPr>
            <a:lvl7pPr lvl="6">
              <a:spcBef>
                <a:spcPts val="0"/>
              </a:spcBef>
              <a:spcAft>
                <a:spcPts val="0"/>
              </a:spcAft>
              <a:buClr>
                <a:schemeClr val="lt1"/>
              </a:buClr>
              <a:buSzPts val="4200"/>
              <a:buNone/>
              <a:defRPr sz="5600">
                <a:solidFill>
                  <a:schemeClr val="lt1"/>
                </a:solidFill>
              </a:defRPr>
            </a:lvl7pPr>
            <a:lvl8pPr lvl="7">
              <a:spcBef>
                <a:spcPts val="0"/>
              </a:spcBef>
              <a:spcAft>
                <a:spcPts val="0"/>
              </a:spcAft>
              <a:buClr>
                <a:schemeClr val="lt1"/>
              </a:buClr>
              <a:buSzPts val="4200"/>
              <a:buNone/>
              <a:defRPr sz="5600">
                <a:solidFill>
                  <a:schemeClr val="lt1"/>
                </a:solidFill>
              </a:defRPr>
            </a:lvl8pPr>
            <a:lvl9pPr lvl="8">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53" name="Google Shape;53;p7"/>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54" name="Google Shape;54;p7"/>
          <p:cNvPicPr preferRelativeResize="0"/>
          <p:nvPr/>
        </p:nvPicPr>
        <p:blipFill>
          <a:blip r:embed="rId2">
            <a:alphaModFix/>
          </a:blip>
          <a:stretch>
            <a:fillRect/>
          </a:stretch>
        </p:blipFill>
        <p:spPr>
          <a:xfrm>
            <a:off x="10838400" y="1"/>
            <a:ext cx="1353600" cy="1343937"/>
          </a:xfrm>
          <a:prstGeom prst="rect">
            <a:avLst/>
          </a:prstGeom>
          <a:noFill/>
          <a:ln>
            <a:noFill/>
          </a:ln>
        </p:spPr>
      </p:pic>
      <p:pic>
        <p:nvPicPr>
          <p:cNvPr id="2" name="Picture 1">
            <a:extLst>
              <a:ext uri="{FF2B5EF4-FFF2-40B4-BE49-F238E27FC236}">
                <a16:creationId xmlns:a16="http://schemas.microsoft.com/office/drawing/2014/main" id="{2801B9BB-356F-0CEB-6136-9AA80883BF80}"/>
              </a:ext>
            </a:extLst>
          </p:cNvPr>
          <p:cNvPicPr>
            <a:picLocks noChangeAspect="1"/>
          </p:cNvPicPr>
          <p:nvPr userDrawn="1"/>
        </p:nvPicPr>
        <p:blipFill>
          <a:blip r:embed="rId3"/>
          <a:stretch>
            <a:fillRect/>
          </a:stretch>
        </p:blipFill>
        <p:spPr>
          <a:xfrm>
            <a:off x="7430642" y="4755764"/>
            <a:ext cx="3522133" cy="1879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890271" y="531580"/>
            <a:ext cx="10320000" cy="645269"/>
          </a:xfrm>
        </p:spPr>
        <p:txBody>
          <a:bodyPr/>
          <a:lstStyle>
            <a:lvl1pPr>
              <a:defRPr baseline="0">
                <a:solidFill>
                  <a:srgbClr val="00849D"/>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p>
        </p:txBody>
      </p:sp>
      <p:sp>
        <p:nvSpPr>
          <p:cNvPr id="12" name="テキスト プレースホルダー 11">
            <a:extLst>
              <a:ext uri="{FF2B5EF4-FFF2-40B4-BE49-F238E27FC236}">
                <a16:creationId xmlns:a16="http://schemas.microsoft.com/office/drawing/2014/main" id="{976D94F7-5AE4-4722-8DC6-262CA0C4960D}"/>
              </a:ext>
            </a:extLst>
          </p:cNvPr>
          <p:cNvSpPr>
            <a:spLocks noGrp="1"/>
          </p:cNvSpPr>
          <p:nvPr>
            <p:ph type="body" sz="quarter" idx="12"/>
          </p:nvPr>
        </p:nvSpPr>
        <p:spPr>
          <a:xfrm>
            <a:off x="890272" y="1422401"/>
            <a:ext cx="10320000" cy="4871236"/>
          </a:xfrm>
        </p:spPr>
        <p:txBody>
          <a:bodyPr/>
          <a:lstStyle>
            <a:lvl1pPr>
              <a:buClr>
                <a:schemeClr val="tx1">
                  <a:lumMod val="50000"/>
                  <a:lumOff val="50000"/>
                </a:schemeClr>
              </a:buClr>
              <a:defRPr>
                <a:solidFill>
                  <a:srgbClr val="20252B"/>
                </a:solidFill>
                <a:latin typeface="游ゴシック" panose="020B0400000000000000" pitchFamily="50" charset="-128"/>
                <a:ea typeface="游ゴシック" panose="020B0400000000000000" pitchFamily="50" charset="-128"/>
              </a:defRPr>
            </a:lvl1pPr>
            <a:lvl2pPr>
              <a:defRPr>
                <a:solidFill>
                  <a:srgbClr val="20252B"/>
                </a:solidFill>
                <a:latin typeface="游ゴシック" panose="020B0400000000000000" pitchFamily="50" charset="-128"/>
                <a:ea typeface="游ゴシック" panose="020B0400000000000000" pitchFamily="50" charset="-128"/>
              </a:defRPr>
            </a:lvl2pPr>
            <a:lvl3pPr>
              <a:defRPr>
                <a:solidFill>
                  <a:srgbClr val="20252B"/>
                </a:solidFill>
                <a:latin typeface="游ゴシック" panose="020B0400000000000000" pitchFamily="50" charset="-128"/>
                <a:ea typeface="游ゴシック" panose="020B0400000000000000" pitchFamily="50" charset="-128"/>
              </a:defRPr>
            </a:lvl3pPr>
            <a:lvl4pPr>
              <a:defRPr>
                <a:solidFill>
                  <a:srgbClr val="20252B"/>
                </a:solidFill>
                <a:latin typeface="游ゴシック" panose="020B0400000000000000" pitchFamily="50" charset="-128"/>
                <a:ea typeface="游ゴシック" panose="020B0400000000000000" pitchFamily="50" charset="-128"/>
              </a:defRPr>
            </a:lvl4pPr>
            <a:lvl5pPr>
              <a:defRPr>
                <a:solidFill>
                  <a:srgbClr val="20252B"/>
                </a:solidFill>
                <a:latin typeface="游ゴシック" panose="020B0400000000000000" pitchFamily="50" charset="-128"/>
                <a:ea typeface="游ゴシック" panose="020B0400000000000000"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日付プレースホルダー 3">
            <a:extLst>
              <a:ext uri="{FF2B5EF4-FFF2-40B4-BE49-F238E27FC236}">
                <a16:creationId xmlns:a16="http://schemas.microsoft.com/office/drawing/2014/main" id="{8632E604-7E3F-471D-BE49-F81FE422C6BA}"/>
              </a:ext>
            </a:extLst>
          </p:cNvPr>
          <p:cNvSpPr>
            <a:spLocks noGrp="1"/>
          </p:cNvSpPr>
          <p:nvPr>
            <p:ph type="dt" sz="half" idx="2"/>
          </p:nvPr>
        </p:nvSpPr>
        <p:spPr>
          <a:xfrm>
            <a:off x="9365610" y="6415459"/>
            <a:ext cx="2743200" cy="166316"/>
          </a:xfrm>
          <a:prstGeom prst="rect">
            <a:avLst/>
          </a:prstGeom>
        </p:spPr>
        <p:txBody>
          <a:bodyPr vert="horz" lIns="91440" tIns="45720" rIns="91440" bIns="45720" rtlCol="0" anchor="ctr"/>
          <a:lstStyle>
            <a:lvl1pPr algn="r">
              <a:defRPr sz="1200">
                <a:solidFill>
                  <a:schemeClr val="tx1"/>
                </a:solidFill>
              </a:defRPr>
            </a:lvl1pPr>
          </a:lstStyle>
          <a:p>
            <a:r>
              <a:rPr lang="en-US" altLang="ja-JP" dirty="0"/>
              <a:t>27th June 2024</a:t>
            </a:r>
            <a:endParaRPr lang="ja-JP" altLang="en-US" dirty="0"/>
          </a:p>
        </p:txBody>
      </p:sp>
      <p:sp>
        <p:nvSpPr>
          <p:cNvPr id="9" name="フッター プレースホルダー 4">
            <a:extLst>
              <a:ext uri="{FF2B5EF4-FFF2-40B4-BE49-F238E27FC236}">
                <a16:creationId xmlns:a16="http://schemas.microsoft.com/office/drawing/2014/main" id="{294F0EEF-B47B-450F-9B4E-208847759D09}"/>
              </a:ext>
            </a:extLst>
          </p:cNvPr>
          <p:cNvSpPr>
            <a:spLocks noGrp="1"/>
          </p:cNvSpPr>
          <p:nvPr>
            <p:ph type="ftr" sz="quarter" idx="3"/>
          </p:nvPr>
        </p:nvSpPr>
        <p:spPr>
          <a:xfrm>
            <a:off x="1331339" y="6423024"/>
            <a:ext cx="2874389" cy="139700"/>
          </a:xfrm>
          <a:prstGeom prst="rect">
            <a:avLst/>
          </a:prstGeom>
        </p:spPr>
        <p:txBody>
          <a:bodyPr vert="horz" lIns="91440" tIns="45720" rIns="91440" bIns="45720" rtlCol="0" anchor="ctr"/>
          <a:lstStyle>
            <a:lvl1pPr algn="ctr">
              <a:defRPr sz="1200">
                <a:solidFill>
                  <a:schemeClr val="tx1"/>
                </a:solidFill>
                <a:latin typeface="+mn-ea"/>
                <a:ea typeface="+mn-ea"/>
              </a:defRPr>
            </a:lvl1pPr>
          </a:lstStyle>
          <a:p>
            <a:pPr algn="l"/>
            <a:r>
              <a:rPr lang="en-US" altLang="ja-JP" dirty="0" err="1"/>
              <a:t>OpenChain</a:t>
            </a:r>
            <a:r>
              <a:rPr lang="en-US" altLang="ja-JP" dirty="0"/>
              <a:t> Japan Work Group</a:t>
            </a:r>
            <a:endParaRPr lang="ja-JP" altLang="en-US" dirty="0"/>
          </a:p>
        </p:txBody>
      </p:sp>
      <p:sp>
        <p:nvSpPr>
          <p:cNvPr id="10" name="スライド番号プレースホルダー 5">
            <a:extLst>
              <a:ext uri="{FF2B5EF4-FFF2-40B4-BE49-F238E27FC236}">
                <a16:creationId xmlns:a16="http://schemas.microsoft.com/office/drawing/2014/main" id="{D0956689-8E5F-4C66-A2AD-BDFE606A600A}"/>
              </a:ext>
            </a:extLst>
          </p:cNvPr>
          <p:cNvSpPr>
            <a:spLocks noGrp="1"/>
          </p:cNvSpPr>
          <p:nvPr>
            <p:ph type="sldNum" sz="quarter" idx="4"/>
          </p:nvPr>
        </p:nvSpPr>
        <p:spPr>
          <a:xfrm>
            <a:off x="9365610" y="6581775"/>
            <a:ext cx="2743200" cy="139700"/>
          </a:xfrm>
          <a:prstGeom prst="rect">
            <a:avLst/>
          </a:prstGeom>
        </p:spPr>
        <p:txBody>
          <a:bodyPr vert="horz" lIns="91440" tIns="45720" rIns="91440" bIns="45720" rtlCol="0" anchor="ctr"/>
          <a:lstStyle>
            <a:lvl1pPr algn="r">
              <a:defRPr sz="1200">
                <a:solidFill>
                  <a:schemeClr val="tx1"/>
                </a:solidFill>
                <a:latin typeface="游ゴシック" panose="020B0400000000000000" pitchFamily="50" charset="-128"/>
              </a:defRPr>
            </a:lvl1pPr>
          </a:lstStyle>
          <a:p>
            <a:fld id="{9E677C9D-2908-4B51-B245-D0108F3FAF17}" type="slidenum">
              <a:rPr lang="ja-JP" altLang="en-US" smtClean="0"/>
              <a:pPr/>
              <a:t>‹#›</a:t>
            </a:fld>
            <a:endParaRPr lang="ja-JP" altLang="en-US" dirty="0"/>
          </a:p>
        </p:txBody>
      </p:sp>
      <p:pic>
        <p:nvPicPr>
          <p:cNvPr id="11" name="Picture 2" descr="OpenChain">
            <a:hlinkClick r:id="rId2"/>
            <a:extLst>
              <a:ext uri="{FF2B5EF4-FFF2-40B4-BE49-F238E27FC236}">
                <a16:creationId xmlns:a16="http://schemas.microsoft.com/office/drawing/2014/main" id="{F82CF80B-CFED-4C23-8656-77A305B1E771}"/>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5061" y="6441095"/>
            <a:ext cx="986278" cy="103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270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46667"/>
            <a:ext cx="11360800" cy="81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r>
              <a:rPr lang="en-US" dirty="0" err="1"/>
              <a:t>aaa</a:t>
            </a:r>
            <a:endParaRPr dirty="0"/>
          </a:p>
        </p:txBody>
      </p:sp>
      <p:sp>
        <p:nvSpPr>
          <p:cNvPr id="7" name="Google Shape;7;p1"/>
          <p:cNvSpPr txBox="1">
            <a:spLocks noGrp="1"/>
          </p:cNvSpPr>
          <p:nvPr>
            <p:ph type="body" idx="1"/>
          </p:nvPr>
        </p:nvSpPr>
        <p:spPr>
          <a:xfrm>
            <a:off x="415600" y="1639833"/>
            <a:ext cx="11360800" cy="4452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dirty="0"/>
          </a:p>
        </p:txBody>
      </p:sp>
      <p:sp>
        <p:nvSpPr>
          <p:cNvPr id="8" name="Google Shape;8;p1"/>
          <p:cNvSpPr txBox="1">
            <a:spLocks noGrp="1"/>
          </p:cNvSpPr>
          <p:nvPr>
            <p:ph type="sldNum" idx="12"/>
          </p:nvPr>
        </p:nvSpPr>
        <p:spPr>
          <a:xfrm>
            <a:off x="11280575" y="6201587"/>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lt1"/>
                </a:solidFill>
                <a:latin typeface="Roboto"/>
                <a:ea typeface="Roboto"/>
                <a:cs typeface="Roboto"/>
                <a:sym typeface="Roboto"/>
              </a:defRPr>
            </a:lvl1pPr>
            <a:lvl2pPr lvl="1" algn="r">
              <a:buNone/>
              <a:defRPr sz="1333">
                <a:solidFill>
                  <a:schemeClr val="lt1"/>
                </a:solidFill>
                <a:latin typeface="Roboto"/>
                <a:ea typeface="Roboto"/>
                <a:cs typeface="Roboto"/>
                <a:sym typeface="Roboto"/>
              </a:defRPr>
            </a:lvl2pPr>
            <a:lvl3pPr lvl="2" algn="r">
              <a:buNone/>
              <a:defRPr sz="1333">
                <a:solidFill>
                  <a:schemeClr val="lt1"/>
                </a:solidFill>
                <a:latin typeface="Roboto"/>
                <a:ea typeface="Roboto"/>
                <a:cs typeface="Roboto"/>
                <a:sym typeface="Roboto"/>
              </a:defRPr>
            </a:lvl3pPr>
            <a:lvl4pPr lvl="3" algn="r">
              <a:buNone/>
              <a:defRPr sz="1333">
                <a:solidFill>
                  <a:schemeClr val="lt1"/>
                </a:solidFill>
                <a:latin typeface="Roboto"/>
                <a:ea typeface="Roboto"/>
                <a:cs typeface="Roboto"/>
                <a:sym typeface="Roboto"/>
              </a:defRPr>
            </a:lvl4pPr>
            <a:lvl5pPr lvl="4" algn="r">
              <a:buNone/>
              <a:defRPr sz="1333">
                <a:solidFill>
                  <a:schemeClr val="lt1"/>
                </a:solidFill>
                <a:latin typeface="Roboto"/>
                <a:ea typeface="Roboto"/>
                <a:cs typeface="Roboto"/>
                <a:sym typeface="Roboto"/>
              </a:defRPr>
            </a:lvl5pPr>
            <a:lvl6pPr lvl="5" algn="r">
              <a:buNone/>
              <a:defRPr sz="1333">
                <a:solidFill>
                  <a:schemeClr val="lt1"/>
                </a:solidFill>
                <a:latin typeface="Roboto"/>
                <a:ea typeface="Roboto"/>
                <a:cs typeface="Roboto"/>
                <a:sym typeface="Roboto"/>
              </a:defRPr>
            </a:lvl6pPr>
            <a:lvl7pPr lvl="6" algn="r">
              <a:buNone/>
              <a:defRPr sz="1333">
                <a:solidFill>
                  <a:schemeClr val="lt1"/>
                </a:solidFill>
                <a:latin typeface="Roboto"/>
                <a:ea typeface="Roboto"/>
                <a:cs typeface="Roboto"/>
                <a:sym typeface="Roboto"/>
              </a:defRPr>
            </a:lvl7pPr>
            <a:lvl8pPr lvl="7" algn="r">
              <a:buNone/>
              <a:defRPr sz="1333">
                <a:solidFill>
                  <a:schemeClr val="lt1"/>
                </a:solidFill>
                <a:latin typeface="Roboto"/>
                <a:ea typeface="Roboto"/>
                <a:cs typeface="Roboto"/>
                <a:sym typeface="Roboto"/>
              </a:defRPr>
            </a:lvl8pPr>
            <a:lvl9pPr lvl="8" algn="r">
              <a:buNone/>
              <a:defRPr sz="1333">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 name="テキスト ボックス 2">
            <a:extLst>
              <a:ext uri="{FF2B5EF4-FFF2-40B4-BE49-F238E27FC236}">
                <a16:creationId xmlns:a16="http://schemas.microsoft.com/office/drawing/2014/main" id="{14658175-A6DE-D7F6-7520-343F9D89E133}"/>
              </a:ext>
            </a:extLst>
          </p:cNvPr>
          <p:cNvSpPr txBox="1"/>
          <p:nvPr userDrawn="1">
            <p:extLst>
              <p:ext uri="{1162E1C5-73C7-4A58-AE30-91384D911F3F}">
                <p184:classification xmlns:p184="http://schemas.microsoft.com/office/powerpoint/2018/4/main" val="ftr"/>
              </p:ext>
            </p:extLst>
          </p:nvPr>
        </p:nvSpPr>
        <p:spPr>
          <a:xfrm>
            <a:off x="5522087" y="6642100"/>
            <a:ext cx="1173163" cy="152400"/>
          </a:xfrm>
          <a:prstGeom prst="rect">
            <a:avLst/>
          </a:prstGeom>
        </p:spPr>
        <p:txBody>
          <a:bodyPr horzOverflow="overflow" lIns="0" tIns="0" rIns="0" bIns="0">
            <a:spAutoFit/>
          </a:bodyPr>
          <a:lstStyle/>
          <a:p>
            <a:pPr algn="l"/>
            <a:r>
              <a:rPr lang="ja-JP" altLang="en-US" sz="1000">
                <a:solidFill>
                  <a:srgbClr val="FF0000">
                    <a:alpha val="50000"/>
                  </a:srgbClr>
                </a:solidFill>
                <a:latin typeface="Aptos" panose="020B0004020202020204" pitchFamily="34" charset="0"/>
              </a:rPr>
              <a:t>INTERNAL USE ONLY</a:t>
            </a:r>
          </a:p>
        </p:txBody>
      </p:sp>
    </p:spTree>
  </p:cSld>
  <p:clrMap bg1="lt1" tx1="dk1" bg2="dk2" tx2="lt2" accent1="accent1" accent2="accent2" accent3="accent3" accent4="accent4" accent5="accent5" accent6="accent6" hlink="hlink" folHlink="folHlink"/>
  <p:sldLayoutIdLst>
    <p:sldLayoutId id="2147483650" r:id="rId1"/>
    <p:sldLayoutId id="2147483655" r:id="rId2"/>
    <p:sldLayoutId id="2147483653" r:id="rId3"/>
    <p:sldLayoutId id="2147483665"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mj-lt"/>
          <a:ea typeface="Roboto Slab" panose="020B0604020202020204" pitchFamily="2" charset="0"/>
          <a:cs typeface="Roboto Slab" panose="020B0604020202020204" pitchFamily="2" charset="0"/>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ux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linuxfoundation.jp/antitrust-polic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geekfeminism.fandom.com/wiki/Conference_anti-harassment/Responding_to_reports" TargetMode="External"/><Relationship Id="rId2" Type="http://schemas.openxmlformats.org/officeDocument/2006/relationships/hyperlink" Target="mailto:awatanabe@evangelist.linuxfoundation.org"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OpenChain-Project/OpenChain-JWG/blob/master/subgroups/sbom-sg/outcomes/SPDX-Lite/Guideline/SPDX-Lite-Guideline_jp.m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D160905-EDAE-4381-8FB7-D697F19A27BA}"/>
              </a:ext>
            </a:extLst>
          </p:cNvPr>
          <p:cNvSpPr>
            <a:spLocks noGrp="1"/>
          </p:cNvSpPr>
          <p:nvPr>
            <p:ph type="ctr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r"/>
            <a:r>
              <a:rPr lang="en-US" altLang="ja-JP" sz="4800" dirty="0">
                <a:solidFill>
                  <a:schemeClr val="bg1"/>
                </a:solidFill>
                <a:latin typeface="BIZ UDPゴシック" panose="020B0400000000000000" pitchFamily="50" charset="-128"/>
                <a:ea typeface="BIZ UDPゴシック" panose="020B0400000000000000" pitchFamily="50" charset="-128"/>
              </a:rPr>
              <a:t>OpenChain JWG</a:t>
            </a:r>
            <a:br>
              <a:rPr lang="en-US" altLang="ja-JP" sz="4800" dirty="0">
                <a:solidFill>
                  <a:schemeClr val="bg1"/>
                </a:solidFill>
                <a:latin typeface="BIZ UDPゴシック" panose="020B0400000000000000" pitchFamily="50" charset="-128"/>
                <a:ea typeface="BIZ UDPゴシック" panose="020B0400000000000000" pitchFamily="50" charset="-128"/>
              </a:rPr>
            </a:br>
            <a:r>
              <a:rPr lang="ja-JP" altLang="en-US" sz="4800" dirty="0">
                <a:solidFill>
                  <a:schemeClr val="bg1"/>
                </a:solidFill>
                <a:latin typeface="BIZ UDPゴシック" panose="020B0400000000000000" pitchFamily="50" charset="-128"/>
                <a:ea typeface="BIZ UDPゴシック" panose="020B0400000000000000" pitchFamily="50" charset="-128"/>
              </a:rPr>
              <a:t>教育</a:t>
            </a:r>
            <a:r>
              <a:rPr kumimoji="1" lang="en-US" altLang="ja-JP" sz="4800" dirty="0">
                <a:solidFill>
                  <a:schemeClr val="bg1"/>
                </a:solidFill>
                <a:latin typeface="BIZ UDPゴシック" panose="020B0400000000000000" pitchFamily="50" charset="-128"/>
                <a:ea typeface="BIZ UDPゴシック" panose="020B0400000000000000" pitchFamily="50" charset="-128"/>
              </a:rPr>
              <a:t> SG</a:t>
            </a:r>
            <a:br>
              <a:rPr kumimoji="1" lang="en-US" altLang="ja-JP" sz="4800" dirty="0">
                <a:solidFill>
                  <a:schemeClr val="bg1"/>
                </a:solidFill>
                <a:latin typeface="BIZ UDPゴシック" panose="020B0400000000000000" pitchFamily="50" charset="-128"/>
                <a:ea typeface="BIZ UDPゴシック" panose="020B0400000000000000" pitchFamily="50" charset="-128"/>
              </a:rPr>
            </a:br>
            <a:r>
              <a:rPr kumimoji="1" lang="en-US" altLang="ja-JP" sz="4800" dirty="0">
                <a:solidFill>
                  <a:schemeClr val="bg1"/>
                </a:solidFill>
                <a:latin typeface="BIZ UDPゴシック" panose="020B0400000000000000" pitchFamily="50" charset="-128"/>
                <a:ea typeface="BIZ UDPゴシック" panose="020B0400000000000000" pitchFamily="50" charset="-128"/>
              </a:rPr>
              <a:t>2026</a:t>
            </a:r>
            <a:r>
              <a:rPr kumimoji="1" lang="ja-JP" altLang="en-US" sz="4800" dirty="0">
                <a:solidFill>
                  <a:schemeClr val="bg1"/>
                </a:solidFill>
                <a:latin typeface="BIZ UDPゴシック" panose="020B0400000000000000" pitchFamily="50" charset="-128"/>
                <a:ea typeface="BIZ UDPゴシック" panose="020B0400000000000000" pitchFamily="50" charset="-128"/>
              </a:rPr>
              <a:t>年度 </a:t>
            </a:r>
            <a:r>
              <a:rPr kumimoji="1" lang="en-US" altLang="ja-JP" sz="4800" dirty="0">
                <a:solidFill>
                  <a:schemeClr val="bg1"/>
                </a:solidFill>
                <a:latin typeface="BIZ UDPゴシック" panose="020B0400000000000000" pitchFamily="50" charset="-128"/>
                <a:ea typeface="BIZ UDPゴシック" panose="020B0400000000000000" pitchFamily="50" charset="-128"/>
              </a:rPr>
              <a:t>6</a:t>
            </a:r>
            <a:r>
              <a:rPr kumimoji="1" lang="ja-JP" altLang="en-US" sz="4800" dirty="0">
                <a:solidFill>
                  <a:schemeClr val="bg1"/>
                </a:solidFill>
                <a:latin typeface="BIZ UDPゴシック" panose="020B0400000000000000" pitchFamily="50" charset="-128"/>
                <a:ea typeface="BIZ UDPゴシック" panose="020B0400000000000000" pitchFamily="50" charset="-128"/>
              </a:rPr>
              <a:t>月</a:t>
            </a:r>
          </a:p>
        </p:txBody>
      </p:sp>
      <p:sp>
        <p:nvSpPr>
          <p:cNvPr id="11" name="Subtitle 10">
            <a:extLst>
              <a:ext uri="{FF2B5EF4-FFF2-40B4-BE49-F238E27FC236}">
                <a16:creationId xmlns:a16="http://schemas.microsoft.com/office/drawing/2014/main" id="{58446F7D-159C-4C26-A06F-DD905AE4ED62}"/>
              </a:ext>
            </a:extLst>
          </p:cNvPr>
          <p:cNvSpPr>
            <a:spLocks noGrp="1"/>
          </p:cNvSpPr>
          <p:nvPr>
            <p:ph type="subTitle"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dirty="0">
                <a:solidFill>
                  <a:schemeClr val="bg1"/>
                </a:solidFill>
              </a:rPr>
              <a:t>2026/6/24</a:t>
            </a:r>
            <a:endParaRPr kumimoji="1" lang="ja-JP" altLang="en-US" dirty="0">
              <a:solidFill>
                <a:schemeClr val="bg1"/>
              </a:solidFill>
            </a:endParaRPr>
          </a:p>
        </p:txBody>
      </p:sp>
    </p:spTree>
    <p:extLst>
      <p:ext uri="{BB962C8B-B14F-4D97-AF65-F5344CB8AC3E}">
        <p14:creationId xmlns:p14="http://schemas.microsoft.com/office/powerpoint/2010/main" val="3246503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en-US" sz="3200" dirty="0"/>
              <a:t>Anti-Trust Policy Notice</a:t>
            </a:r>
          </a:p>
        </p:txBody>
      </p:sp>
      <p:sp>
        <p:nvSpPr>
          <p:cNvPr id="158" name="Google Shape;158;p25"/>
          <p:cNvSpPr txBox="1">
            <a:spLocks noGrp="1"/>
          </p:cNvSpPr>
          <p:nvPr>
            <p:ph type="body" idx="1"/>
          </p:nvPr>
        </p:nvSpPr>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400"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r>
              <a:rPr lang="en-US" sz="2400" dirty="0"/>
              <a:t>Examples of types of actions that are prohibited at Linux Foundation meetings and in connection with Linux Foundation activities are described in the Linux Foundation Antitrust Policy available at </a:t>
            </a:r>
            <a:r>
              <a:rPr lang="en-US" sz="2400" dirty="0">
                <a:hlinkClick r:id="rId3"/>
              </a:rPr>
              <a:t>http://www.linuxfoundation.org/</a:t>
            </a:r>
            <a:r>
              <a:rPr lang="en-US" sz="2400" dirty="0"/>
              <a:t> antitrust-policy. If you have questions about these matters, please contact your company counsel, or if you are a member of the Linux Foundation, feel free to contact Andrew </a:t>
            </a:r>
            <a:r>
              <a:rPr lang="en-US" sz="2400" dirty="0" err="1"/>
              <a:t>Updegrove</a:t>
            </a:r>
            <a:r>
              <a:rPr lang="en-US" sz="2400" dirty="0"/>
              <a:t> of the firm of </a:t>
            </a:r>
            <a:r>
              <a:rPr lang="en-US" sz="2400" dirty="0" err="1"/>
              <a:t>Gesmer</a:t>
            </a:r>
            <a:r>
              <a:rPr lang="en-US" sz="2400" dirty="0"/>
              <a:t> </a:t>
            </a:r>
            <a:r>
              <a:rPr lang="en-US" sz="2400" dirty="0" err="1"/>
              <a:t>Updegrove</a:t>
            </a:r>
            <a:r>
              <a:rPr lang="en-US" sz="2400" dirty="0"/>
              <a:t> LLP, which provides legal counsel to the Linux Foundation.</a:t>
            </a:r>
          </a:p>
          <a:p>
            <a:pPr lvl="0"/>
            <a:endParaRPr lang="en-US" dirty="0"/>
          </a:p>
          <a:p>
            <a:pPr lvl="0"/>
            <a:endParaRPr lang="en-US" dirty="0"/>
          </a:p>
        </p:txBody>
      </p:sp>
    </p:spTree>
    <p:extLst>
      <p:ext uri="{BB962C8B-B14F-4D97-AF65-F5344CB8AC3E}">
        <p14:creationId xmlns:p14="http://schemas.microsoft.com/office/powerpoint/2010/main" val="1226033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ja-JP" altLang="en-US" sz="3200" dirty="0"/>
              <a:t>独占禁止法順守ポリシー </a:t>
            </a:r>
            <a:r>
              <a:rPr lang="en-US" altLang="ja-JP" sz="3200" dirty="0"/>
              <a:t>(</a:t>
            </a:r>
            <a:r>
              <a:rPr lang="en-US" sz="3200" dirty="0"/>
              <a:t>Antitrust Policy)</a:t>
            </a:r>
          </a:p>
        </p:txBody>
      </p:sp>
      <p:sp>
        <p:nvSpPr>
          <p:cNvPr id="158" name="Google Shape;158;p25"/>
          <p:cNvSpPr txBox="1">
            <a:spLocks noGrp="1"/>
          </p:cNvSpPr>
          <p:nvPr>
            <p:ph type="body"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ja-JP" sz="2400" dirty="0"/>
              <a:t>Linux Foundation (</a:t>
            </a:r>
            <a:r>
              <a:rPr lang="ja-JP" altLang="en-US" sz="2400" dirty="0"/>
              <a:t>以下</a:t>
            </a:r>
            <a:r>
              <a:rPr lang="en-US" altLang="ja-JP" sz="2400" dirty="0"/>
              <a:t>LF</a:t>
            </a:r>
            <a:r>
              <a:rPr lang="ja-JP" altLang="en-US" sz="2400" dirty="0"/>
              <a:t>と略す</a:t>
            </a:r>
            <a:r>
              <a:rPr lang="en-US" altLang="ja-JP" sz="2400" dirty="0"/>
              <a:t>) </a:t>
            </a:r>
            <a:r>
              <a:rPr lang="ja-JP" altLang="en-US" sz="2400" dirty="0"/>
              <a:t>の会議は、産業界で競合関係にある企業同士の参加が不可欠です。</a:t>
            </a:r>
            <a:r>
              <a:rPr lang="en-US" altLang="ja-JP" sz="2400" dirty="0"/>
              <a:t>LF</a:t>
            </a:r>
            <a:r>
              <a:rPr lang="ja-JP" altLang="en-US" sz="2400" dirty="0"/>
              <a:t>は、すべての活動を、適用されるべきすべての独占禁止法</a:t>
            </a:r>
            <a:r>
              <a:rPr lang="en-US" altLang="ja-JP" sz="2400" dirty="0"/>
              <a:t>/</a:t>
            </a:r>
            <a:r>
              <a:rPr lang="ja-JP" altLang="en-US" sz="2400" dirty="0"/>
              <a:t>競争法に則って運営します。従って、会議の出席者は、アジェンダに沿って会議を進め、国内外の独占禁止法</a:t>
            </a:r>
            <a:r>
              <a:rPr lang="en-US" altLang="ja-JP" sz="2400" dirty="0"/>
              <a:t>/</a:t>
            </a:r>
            <a:r>
              <a:rPr lang="ja-JP" altLang="en-US" sz="2400" dirty="0"/>
              <a:t>競争法の下で禁止されているいかなる活動にも参加しないよう、注意を払うことが非常に重要です。</a:t>
            </a:r>
          </a:p>
          <a:p>
            <a:r>
              <a:rPr lang="en-US" altLang="ja-JP" sz="2400" dirty="0"/>
              <a:t>LF</a:t>
            </a:r>
            <a:r>
              <a:rPr lang="ja-JP" altLang="en-US" sz="2400" dirty="0"/>
              <a:t>の会議において、また</a:t>
            </a:r>
            <a:r>
              <a:rPr lang="en-US" altLang="ja-JP" sz="2400" dirty="0"/>
              <a:t>LF</a:t>
            </a:r>
            <a:r>
              <a:rPr lang="ja-JP" altLang="en-US" sz="2400" dirty="0"/>
              <a:t>の活動に関連して、禁止されている行動の例は、</a:t>
            </a:r>
            <a:r>
              <a:rPr lang="en-US" altLang="ja-JP" sz="2400" dirty="0">
                <a:hlinkClick r:id="rId3"/>
              </a:rPr>
              <a:t>https://www.linuxfoundation.jp/antitrust-policy/</a:t>
            </a:r>
            <a:r>
              <a:rPr lang="ja-JP" altLang="en-US" sz="2400" dirty="0"/>
              <a:t> から入手できる</a:t>
            </a:r>
            <a:r>
              <a:rPr lang="en-US" altLang="ja-JP" sz="2400" dirty="0"/>
              <a:t>LF</a:t>
            </a:r>
            <a:r>
              <a:rPr lang="ja-JP" altLang="en-US" sz="2400" dirty="0"/>
              <a:t>独占禁止法順守ポリシーに記載されています。これらの事項について質問がある場合は、あなたの会社の法律顧問に問い合わせるか、もしあなたが</a:t>
            </a:r>
            <a:r>
              <a:rPr lang="en-US" altLang="ja-JP" sz="2400" dirty="0"/>
              <a:t>LF</a:t>
            </a:r>
            <a:r>
              <a:rPr lang="ja-JP" altLang="en-US" sz="2400" dirty="0"/>
              <a:t>のメンバーであるならば、</a:t>
            </a:r>
            <a:r>
              <a:rPr lang="en-US" altLang="ja-JP" sz="2400" dirty="0"/>
              <a:t>LF</a:t>
            </a:r>
            <a:r>
              <a:rPr lang="ja-JP" altLang="en-US" sz="2400" dirty="0"/>
              <a:t>の法律顧問である </a:t>
            </a:r>
            <a:r>
              <a:rPr lang="en-US" altLang="ja-JP" sz="2400" dirty="0" err="1"/>
              <a:t>Gesmer</a:t>
            </a:r>
            <a:r>
              <a:rPr lang="ja-JP" altLang="en-US" sz="2400" dirty="0"/>
              <a:t> </a:t>
            </a:r>
            <a:r>
              <a:rPr lang="en-US" altLang="ja-JP" sz="2400" dirty="0" err="1"/>
              <a:t>Updegrove</a:t>
            </a:r>
            <a:r>
              <a:rPr lang="ja-JP" altLang="en-US" sz="2400" dirty="0"/>
              <a:t> </a:t>
            </a:r>
            <a:r>
              <a:rPr lang="en-US" altLang="ja-JP" sz="2400" dirty="0"/>
              <a:t>LLP </a:t>
            </a:r>
            <a:r>
              <a:rPr lang="ja-JP" altLang="en-US" sz="2400" dirty="0"/>
              <a:t>の </a:t>
            </a:r>
            <a:r>
              <a:rPr lang="en-US" altLang="ja-JP" sz="2400" dirty="0"/>
              <a:t>Andrew </a:t>
            </a:r>
            <a:r>
              <a:rPr lang="en-US" altLang="ja-JP" sz="2400" dirty="0" err="1"/>
              <a:t>Updegrove</a:t>
            </a:r>
            <a:r>
              <a:rPr lang="ja-JP" altLang="en-US" sz="2400" dirty="0"/>
              <a:t> にお問い合わせください。</a:t>
            </a:r>
          </a:p>
          <a:p>
            <a:pPr lvl="0"/>
            <a:endParaRPr lang="ja-JP" altLang="en-US" dirty="0"/>
          </a:p>
          <a:p>
            <a:pPr lvl="0"/>
            <a:endParaRPr lang="ja-JP" altLang="en-US" dirty="0"/>
          </a:p>
        </p:txBody>
      </p:sp>
      <p:sp>
        <p:nvSpPr>
          <p:cNvPr id="4" name="テキスト ボックス 3">
            <a:extLst>
              <a:ext uri="{FF2B5EF4-FFF2-40B4-BE49-F238E27FC236}">
                <a16:creationId xmlns:a16="http://schemas.microsoft.com/office/drawing/2014/main" id="{F4B69969-C2B2-4035-B697-410820198BDC}"/>
              </a:ext>
            </a:extLst>
          </p:cNvPr>
          <p:cNvSpPr txBox="1"/>
          <p:nvPr/>
        </p:nvSpPr>
        <p:spPr>
          <a:xfrm>
            <a:off x="0" y="134679"/>
            <a:ext cx="1477328"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sz="2400" dirty="0">
                <a:latin typeface="游ゴシック Medium" panose="020B0500000000000000" pitchFamily="50" charset="-128"/>
                <a:ea typeface="游ゴシック Medium" panose="020B0500000000000000" pitchFamily="50" charset="-128"/>
              </a:rPr>
              <a:t>【</a:t>
            </a:r>
            <a:r>
              <a:rPr kumimoji="1" lang="ja-JP" altLang="en-US" sz="2400" dirty="0">
                <a:latin typeface="游ゴシック Medium" panose="020B0500000000000000" pitchFamily="50" charset="-128"/>
                <a:ea typeface="游ゴシック Medium" panose="020B0500000000000000" pitchFamily="50" charset="-128"/>
              </a:rPr>
              <a:t>参考</a:t>
            </a:r>
            <a:r>
              <a:rPr kumimoji="1" lang="en-US" altLang="ja-JP" sz="2400" dirty="0">
                <a:latin typeface="游ゴシック Medium" panose="020B0500000000000000" pitchFamily="50" charset="-128"/>
                <a:ea typeface="游ゴシック Medium" panose="020B0500000000000000" pitchFamily="50" charset="-128"/>
              </a:rPr>
              <a:t>】</a:t>
            </a:r>
            <a:endParaRPr kumimoji="1" lang="ja-JP" altLang="en-US" sz="24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4035596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normAutofit/>
          </a:bodyPr>
          <a:lstStyle/>
          <a:p>
            <a:r>
              <a:rPr kumimoji="1" lang="en-US" altLang="ja-JP" dirty="0"/>
              <a:t>Code of Conduct</a:t>
            </a:r>
            <a:endParaRPr kumimoji="1" lang="ja-JP" altLang="en-US" dirty="0"/>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lnSpcReduction="10000"/>
          </a:bodyPr>
          <a:lstStyle/>
          <a:p>
            <a:pPr>
              <a:buFont typeface="Wingdings" panose="05000000000000000000" pitchFamily="2" charset="2"/>
              <a:buChar char="l"/>
            </a:pPr>
            <a:r>
              <a:rPr kumimoji="1" lang="en-US" altLang="ja-JP" sz="2000" dirty="0"/>
              <a:t>The Linux Foundation and its project communities are dedicated to providing a harassment-free experience for participants at all of our events, whether they are held in person or virtually. Linux Foundation events are working conferences intended for professional networking and collaboration within the open source community. They exist to encourage the open exchange of ideas and expression and require an environment that recognizes the inherent worth of every person and group. While at Linux Foundation events or related ancillary or social events, any participants, including members, speakers, attendees, volunteers, sponsors, exhibitors, booth staff and anyone else, must not engage in harassment in any form.</a:t>
            </a:r>
          </a:p>
          <a:p>
            <a:pPr>
              <a:buFont typeface="Wingdings" panose="05000000000000000000" pitchFamily="2" charset="2"/>
              <a:buChar char="l"/>
            </a:pPr>
            <a:r>
              <a:rPr kumimoji="1" lang="en-US" altLang="ja-JP" sz="2000" dirty="0"/>
              <a:t>This Code of Conduct may be revised at any time by The Linux Foundation and the terms are non-negotiable. Your registration for or attendance at any Linux Foundation event, whether it’s held in person or virtually, indicates your agreement to abide by this policy and its terms.</a:t>
            </a:r>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4</a:t>
            </a:fld>
            <a:endParaRPr lang="ja-JP" altLang="en-US" dirty="0"/>
          </a:p>
        </p:txBody>
      </p:sp>
      <p:pic>
        <p:nvPicPr>
          <p:cNvPr id="7" name="図 6" descr="QR コード&#10;&#10;自動的に生成された説明">
            <a:extLst>
              <a:ext uri="{FF2B5EF4-FFF2-40B4-BE49-F238E27FC236}">
                <a16:creationId xmlns:a16="http://schemas.microsoft.com/office/drawing/2014/main" id="{A88AEAC6-B8FA-C5D8-9D4B-C61F65AB6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7529" y="-1501"/>
            <a:ext cx="1364471" cy="1364471"/>
          </a:xfrm>
          <a:prstGeom prst="rect">
            <a:avLst/>
          </a:prstGeom>
        </p:spPr>
      </p:pic>
      <p:sp>
        <p:nvSpPr>
          <p:cNvPr id="8" name="テキスト ボックス 7">
            <a:extLst>
              <a:ext uri="{FF2B5EF4-FFF2-40B4-BE49-F238E27FC236}">
                <a16:creationId xmlns:a16="http://schemas.microsoft.com/office/drawing/2014/main" id="{31B2D901-FD8C-CC7A-6630-6154BD0DD7AF}"/>
              </a:ext>
            </a:extLst>
          </p:cNvPr>
          <p:cNvSpPr txBox="1"/>
          <p:nvPr/>
        </p:nvSpPr>
        <p:spPr>
          <a:xfrm>
            <a:off x="5891844"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https://events.linuxfoundation.org/about/code-of-conduct/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1130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QR コード&#10;&#10;自動的に生成された説明">
            <a:extLst>
              <a:ext uri="{FF2B5EF4-FFF2-40B4-BE49-F238E27FC236}">
                <a16:creationId xmlns:a16="http://schemas.microsoft.com/office/drawing/2014/main" id="{12CB58A1-0F53-644A-8A1F-A1252156A7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3461" y="-393"/>
            <a:ext cx="1364471" cy="1364471"/>
          </a:xfrm>
          <a:prstGeom prst="rect">
            <a:avLst/>
          </a:prstGeom>
        </p:spPr>
      </p:pic>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lstStyle/>
          <a:p>
            <a:pPr marL="0" indent="0">
              <a:buNone/>
            </a:pPr>
            <a:r>
              <a:rPr kumimoji="1" lang="en-US" altLang="ja-JP" sz="1500" b="1" dirty="0"/>
              <a:t>The Linux Foundation </a:t>
            </a:r>
            <a:r>
              <a:rPr kumimoji="1" lang="ja-JP" altLang="en-US" sz="1500" b="1" dirty="0"/>
              <a:t>とその傘下のプロジェクトは、わたしたちのすべてのイベントにおいて、参加者が人権侵害や差別を受けることのないよう努力しています。</a:t>
            </a:r>
            <a:r>
              <a:rPr kumimoji="1" lang="en-US" altLang="ja-JP" sz="1500" b="1" dirty="0"/>
              <a:t>The Linux Foundation (</a:t>
            </a:r>
            <a:r>
              <a:rPr kumimoji="1" lang="ja-JP" altLang="en-US" sz="1500" b="1" dirty="0"/>
              <a:t>および </a:t>
            </a:r>
            <a:r>
              <a:rPr kumimoji="1" lang="en-US" altLang="ja-JP" sz="1500" b="1" dirty="0"/>
              <a:t>LF </a:t>
            </a:r>
            <a:r>
              <a:rPr kumimoji="1" lang="ja-JP" altLang="en-US" sz="1500" b="1" dirty="0"/>
              <a:t>プロジェクト</a:t>
            </a:r>
            <a:r>
              <a:rPr kumimoji="1" lang="en-US" altLang="ja-JP" sz="1500" b="1" dirty="0"/>
              <a:t>) </a:t>
            </a:r>
            <a:r>
              <a:rPr kumimoji="1" lang="ja-JP" altLang="en-US" sz="1500" b="1" dirty="0"/>
              <a:t>のイベントは </a:t>
            </a:r>
            <a:r>
              <a:rPr kumimoji="1" lang="en-US" altLang="ja-JP" sz="1500" b="1" dirty="0"/>
              <a:t>Linux </a:t>
            </a:r>
            <a:r>
              <a:rPr kumimoji="1" lang="ja-JP" altLang="en-US" sz="1500" b="1" dirty="0"/>
              <a:t>コミュニティにおける専門家間の交流とコラボレーションをめざした作業会議です。そして、アイデアや感想のオープンな交換を奨励し、あらゆる人々や集団が持つ価値を認める環境を要求します。そして、アイデアや感想のオープンな交換を奨励し、あらゆる人々や集団が持つ価値を認める環境を要求します。</a:t>
            </a:r>
            <a:endParaRPr kumimoji="1" lang="en-US" altLang="ja-JP" sz="1500" b="1" dirty="0"/>
          </a:p>
          <a:p>
            <a:pPr marL="0" indent="0">
              <a:buNone/>
            </a:pPr>
            <a:endParaRPr kumimoji="1" lang="en-US" altLang="ja-JP" sz="300" dirty="0"/>
          </a:p>
          <a:p>
            <a:pPr marL="0" indent="0">
              <a:buNone/>
            </a:pPr>
            <a:r>
              <a:rPr kumimoji="1" lang="ja-JP" altLang="en-US" sz="1500" b="1" dirty="0"/>
              <a:t>求められる行動</a:t>
            </a:r>
          </a:p>
          <a:p>
            <a:pPr marL="0" indent="0">
              <a:buNone/>
            </a:pPr>
            <a:r>
              <a:rPr kumimoji="1" lang="ja-JP" altLang="en-US" sz="1400" dirty="0"/>
              <a:t>すべてのイベント参加者は、プロフェッショナルの基準、</a:t>
            </a:r>
            <a:r>
              <a:rPr kumimoji="1" lang="en-US" altLang="ja-JP" sz="1400" dirty="0"/>
              <a:t>The Linux Foundation </a:t>
            </a:r>
            <a:r>
              <a:rPr kumimoji="1" lang="ja-JP" altLang="en-US" sz="1400" dirty="0"/>
              <a:t>の行動規範、さらには各自の所属組織が定める適切な勤務態度に関するポリシー、および適用可能な法律に従って行動することが求められます。</a:t>
            </a:r>
            <a:endParaRPr kumimoji="1" lang="en-US" altLang="ja-JP" sz="1400" dirty="0"/>
          </a:p>
          <a:p>
            <a:pPr marL="0" indent="0">
              <a:buNone/>
            </a:pPr>
            <a:r>
              <a:rPr kumimoji="1" lang="ja-JP" altLang="en-US" sz="1500" b="1" dirty="0"/>
              <a:t>容認できない行為</a:t>
            </a:r>
          </a:p>
          <a:p>
            <a:pPr marL="0" indent="0">
              <a:buNone/>
            </a:pPr>
            <a:r>
              <a:rPr kumimoji="1" lang="ja-JP" altLang="en-US" sz="1400" dirty="0"/>
              <a:t>性、性同一性、性表現、性的指向、障害、容姿、体格、人種、年齢、宗教などによるハラスメンはもとより、カンファレンスやプログラムが開催される国や地域の法に保護された地位や立場によるハラスメントなど、いかなる形のハラスメントも容認されません。また、虐待的、攻撃的、または屈辱的表現の使用、脅迫、ストーキング、嫌がらせの写真や記録、不適切な物理的接触、性的画像、および迷惑な性的誘惑、または性的行為の要求などもハラスメントとみなします。わたしたちは、わたしたちのイベントにおけるあらゆるハラスメントに迅速に対応いたします。ハラスメント行為の停止を求められた参加者は、その要求に速やかに従ってください。容認できない行為の目撃者や被害者は、すぐにカンファレンス主催者にお知らせください。</a:t>
            </a:r>
          </a:p>
          <a:p>
            <a:pPr marL="0" indent="0">
              <a:buNone/>
            </a:pPr>
            <a:r>
              <a:rPr kumimoji="1" lang="ja-JP" altLang="en-US" sz="1400" dirty="0"/>
              <a:t>展示者は、性的画像、アクティビティ、またはその他の素材をブースで使用するべきではありません。また、性的な服装</a:t>
            </a:r>
            <a:r>
              <a:rPr kumimoji="1" lang="en-US" altLang="ja-JP" sz="1400" dirty="0"/>
              <a:t>/</a:t>
            </a:r>
            <a:r>
              <a:rPr kumimoji="1" lang="ja-JP" altLang="en-US" sz="1400" dirty="0"/>
              <a:t>制服</a:t>
            </a:r>
            <a:r>
              <a:rPr kumimoji="1" lang="en-US" altLang="ja-JP" sz="1400" dirty="0"/>
              <a:t>/</a:t>
            </a:r>
            <a:r>
              <a:rPr kumimoji="1" lang="ja-JP" altLang="en-US" sz="1400" dirty="0"/>
              <a:t>衣装の使用、あるいは性的環境の作成を行ってはいけません。講演者はその講演において、性的な表現、画像、あるいは、上で定義されているハラスメントの要素となるあらゆる表現や画像を使用するべきではありません。</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5</a:t>
            </a:fld>
            <a:endParaRPr lang="ja-JP" altLang="en-US" dirty="0"/>
          </a:p>
        </p:txBody>
      </p:sp>
      <p:sp>
        <p:nvSpPr>
          <p:cNvPr id="7" name="テキスト ボックス 6">
            <a:extLst>
              <a:ext uri="{FF2B5EF4-FFF2-40B4-BE49-F238E27FC236}">
                <a16:creationId xmlns:a16="http://schemas.microsoft.com/office/drawing/2014/main" id="{2C920175-F630-0D32-7D44-AC63577BCB6A}"/>
              </a:ext>
            </a:extLst>
          </p:cNvPr>
          <p:cNvSpPr txBox="1"/>
          <p:nvPr/>
        </p:nvSpPr>
        <p:spPr>
          <a:xfrm>
            <a:off x="5891843"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https://www.linuxfoundation.jp/code-of-conduct/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752907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a:bodyPr>
          <a:lstStyle/>
          <a:p>
            <a:pPr marL="0" indent="0">
              <a:buNone/>
            </a:pPr>
            <a:r>
              <a:rPr kumimoji="1" lang="ja-JP" altLang="en-US" sz="1500" b="1" dirty="0"/>
              <a:t>容認できない行為が招く結末</a:t>
            </a:r>
          </a:p>
          <a:p>
            <a:pPr marL="0" indent="0">
              <a:buNone/>
            </a:pPr>
            <a:r>
              <a:rPr kumimoji="1" lang="ja-JP" altLang="en-US" sz="1400" dirty="0"/>
              <a:t>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p>
          <a:p>
            <a:pPr marL="0" indent="0">
              <a:buNone/>
            </a:pPr>
            <a:r>
              <a:rPr kumimoji="1" lang="ja-JP" altLang="en-US" sz="1500" b="1" dirty="0"/>
              <a:t>容認できない行為の目撃者や被害者が行うべきこと</a:t>
            </a:r>
          </a:p>
          <a:p>
            <a:pPr marL="0" indent="0">
              <a:buNone/>
            </a:pPr>
            <a:r>
              <a:rPr kumimoji="1" lang="ja-JP" altLang="en-US" sz="1400" dirty="0"/>
              <a:t>ハラスメントを受けている当事者やハラスメント行為の目撃者、または懸念事項をお持ちの方は、</a:t>
            </a:r>
            <a:r>
              <a:rPr kumimoji="1" lang="en-US" altLang="ja-JP" sz="1400" dirty="0"/>
              <a:t>[OpenChain Planning</a:t>
            </a:r>
            <a:r>
              <a:rPr kumimoji="1" lang="ja-JP" altLang="en-US" sz="1400" dirty="0"/>
              <a:t>代表</a:t>
            </a:r>
            <a:r>
              <a:rPr kumimoji="1" lang="en-US" altLang="ja-JP" sz="1400" dirty="0"/>
              <a:t>]</a:t>
            </a:r>
            <a:r>
              <a:rPr kumimoji="1" lang="ja-JP" altLang="en-US" sz="1400" dirty="0"/>
              <a:t>に速やかにお知らせください。なお、質問や懸念事項については、イベント担当 </a:t>
            </a:r>
            <a:r>
              <a:rPr kumimoji="1" lang="en-US" altLang="ja-JP" sz="1400" dirty="0"/>
              <a:t>VP </a:t>
            </a:r>
            <a:r>
              <a:rPr kumimoji="1" lang="ja-JP" altLang="en-US" sz="1400" dirty="0"/>
              <a:t>の </a:t>
            </a:r>
            <a:r>
              <a:rPr kumimoji="1" lang="en-US" altLang="ja-JP" sz="1400" dirty="0"/>
              <a:t>Angela Brown (</a:t>
            </a:r>
            <a:r>
              <a:rPr kumimoji="1" lang="en-US" altLang="ja-JP" sz="1400" dirty="0" err="1"/>
              <a:t>angela</a:t>
            </a:r>
            <a:r>
              <a:rPr kumimoji="1" lang="en-US" altLang="ja-JP" sz="1400" dirty="0"/>
              <a:t> (at) </a:t>
            </a:r>
            <a:r>
              <a:rPr kumimoji="1" lang="en-US" altLang="ja-JP" sz="1400" dirty="0" err="1"/>
              <a:t>linuxfoundation</a:t>
            </a:r>
            <a:r>
              <a:rPr kumimoji="1" lang="en-US" altLang="ja-JP" sz="1400" dirty="0"/>
              <a:t> (dot) org ) </a:t>
            </a:r>
            <a:r>
              <a:rPr kumimoji="1" lang="ja-JP" altLang="en-US" sz="1400" dirty="0"/>
              <a:t>も承ります。</a:t>
            </a:r>
            <a:endParaRPr kumimoji="1" lang="en-US" altLang="ja-JP" sz="1400" dirty="0"/>
          </a:p>
          <a:p>
            <a:pPr marL="0" indent="0">
              <a:buNone/>
            </a:pPr>
            <a:endParaRPr kumimoji="1" lang="ja-JP" altLang="en-US" sz="300" dirty="0"/>
          </a:p>
          <a:p>
            <a:pPr marL="355591" lvl="1" indent="0">
              <a:buNone/>
            </a:pPr>
            <a:r>
              <a:rPr kumimoji="1" lang="en-US" altLang="ja-JP" sz="1800" b="1" dirty="0"/>
              <a:t>OpenChain Planning</a:t>
            </a:r>
            <a:r>
              <a:rPr kumimoji="1" lang="ja-JP" altLang="en-US" sz="1800" b="1" dirty="0"/>
              <a:t>代表：</a:t>
            </a:r>
            <a:endParaRPr kumimoji="1" lang="en-US" altLang="ja-JP" sz="1800" b="1" dirty="0"/>
          </a:p>
          <a:p>
            <a:pPr marL="1005398" lvl="2" indent="-285750">
              <a:buFont typeface="Arial" panose="020B0604020202020204" pitchFamily="34" charset="0"/>
              <a:buChar char="•"/>
            </a:pPr>
            <a:r>
              <a:rPr lang="ja-JP" altLang="en-US" sz="1400" b="1" dirty="0"/>
              <a:t>渡邊歩</a:t>
            </a:r>
            <a:r>
              <a:rPr lang="en-US" altLang="ja-JP" sz="1400" b="1" dirty="0"/>
              <a:t>(Woman, Japanese)</a:t>
            </a:r>
            <a:r>
              <a:rPr lang="ja-JP" altLang="en-US" sz="1400" b="1" dirty="0"/>
              <a:t>：</a:t>
            </a:r>
            <a:r>
              <a:rPr lang="en-US" altLang="ja-JP" sz="1400" b="1" dirty="0">
                <a:hlinkClick r:id="rId2"/>
              </a:rPr>
              <a:t>awatanabe@evangelist.linuxfoundation.org</a:t>
            </a:r>
            <a:endParaRPr lang="en-US" altLang="ja-JP" sz="1400" b="1" dirty="0"/>
          </a:p>
          <a:p>
            <a:pPr marL="0" indent="0">
              <a:buNone/>
            </a:pPr>
            <a:endParaRPr kumimoji="1" lang="en-US" altLang="ja-JP" sz="300" dirty="0"/>
          </a:p>
          <a:p>
            <a:pPr marL="0" indent="0">
              <a:buNone/>
            </a:pPr>
            <a:r>
              <a:rPr kumimoji="1" lang="ja-JP" altLang="en-US" sz="1500" b="1" dirty="0"/>
              <a:t>事故対応</a:t>
            </a:r>
          </a:p>
          <a:p>
            <a:pPr marL="0" indent="0">
              <a:buNone/>
            </a:pPr>
            <a:r>
              <a:rPr kumimoji="1" lang="ja-JP" altLang="en-US" sz="1400" dirty="0"/>
              <a:t>スタッフは事故対応訓練を受けており、ハラスメントの報告を受けた場合は、</a:t>
            </a:r>
            <a:r>
              <a:rPr kumimoji="1" lang="en-US" altLang="ja-JP" sz="1400" dirty="0"/>
              <a:t>Ada Initiative (Geek Feminism Wiki </a:t>
            </a:r>
            <a:r>
              <a:rPr kumimoji="1" lang="ja-JP" altLang="en-US" sz="1400" dirty="0"/>
              <a:t>の</a:t>
            </a:r>
            <a:r>
              <a:rPr kumimoji="1" lang="ja-JP" altLang="en-US" sz="1400" dirty="0">
                <a:hlinkClick r:id="rId3"/>
              </a:rPr>
              <a:t>こちら</a:t>
            </a:r>
            <a:r>
              <a:rPr kumimoji="1" lang="ja-JP" altLang="en-US" sz="1400" dirty="0"/>
              <a:t>を参照</a:t>
            </a:r>
            <a:r>
              <a:rPr kumimoji="1" lang="en-US" altLang="ja-JP" sz="1400" dirty="0"/>
              <a:t>) </a:t>
            </a:r>
            <a:r>
              <a:rPr kumimoji="1" lang="ja-JP" altLang="en-US" sz="1400" dirty="0"/>
              <a:t>が推奨するプロセスに従ってこれに対応します。前述のように、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6</a:t>
            </a:fld>
            <a:endParaRPr lang="ja-JP" altLang="en-US" dirty="0"/>
          </a:p>
        </p:txBody>
      </p:sp>
    </p:spTree>
    <p:extLst>
      <p:ext uri="{BB962C8B-B14F-4D97-AF65-F5344CB8AC3E}">
        <p14:creationId xmlns:p14="http://schemas.microsoft.com/office/powerpoint/2010/main" val="2874623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normAutofit/>
          </a:bodyPr>
          <a:lstStyle/>
          <a:p>
            <a:r>
              <a:rPr kumimoji="1" lang="ja-JP" altLang="en-US" dirty="0">
                <a:latin typeface="BIZ UDPゴシック" panose="020B0400000000000000" pitchFamily="50" charset="-128"/>
                <a:ea typeface="BIZ UDPゴシック" panose="020B0400000000000000" pitchFamily="50" charset="-128"/>
              </a:rPr>
              <a:t>この会の進め方について</a:t>
            </a:r>
            <a:r>
              <a:rPr lang="ja-JP" altLang="en-US" dirty="0">
                <a:latin typeface="BIZ UDPゴシック" panose="020B0400000000000000" pitchFamily="50" charset="-128"/>
                <a:ea typeface="BIZ UDPゴシック" panose="020B0400000000000000" pitchFamily="50" charset="-128"/>
              </a:rPr>
              <a:t>（再掲、一部追記あり）</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以前にも言った通り、基本的に今までのやり方を踏襲します。</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オンライン会合が月に</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回</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時間半（毎月第</a:t>
            </a:r>
            <a:r>
              <a:rPr kumimoji="1" lang="en-US" altLang="ja-JP" dirty="0">
                <a:latin typeface="BIZ UDPゴシック" panose="020B0400000000000000" pitchFamily="50" charset="-128"/>
                <a:ea typeface="BIZ UDPゴシック" panose="020B0400000000000000" pitchFamily="50" charset="-128"/>
              </a:rPr>
              <a:t>4</a:t>
            </a:r>
            <a:r>
              <a:rPr kumimoji="1" lang="ja-JP" altLang="en-US" dirty="0">
                <a:latin typeface="BIZ UDPゴシック" panose="020B0400000000000000" pitchFamily="50" charset="-128"/>
                <a:ea typeface="BIZ UDPゴシック" panose="020B0400000000000000" pitchFamily="50" charset="-128"/>
              </a:rPr>
              <a:t>水曜日 </a:t>
            </a:r>
            <a:r>
              <a:rPr kumimoji="1" lang="en-US" altLang="ja-JP" dirty="0">
                <a:latin typeface="BIZ UDPゴシック" panose="020B0400000000000000" pitchFamily="50" charset="-128"/>
                <a:ea typeface="BIZ UDPゴシック" panose="020B0400000000000000" pitchFamily="50" charset="-128"/>
              </a:rPr>
              <a:t>13:30-15:00</a:t>
            </a:r>
            <a:r>
              <a:rPr kumimoji="1" lang="ja-JP" altLang="en-US" dirty="0">
                <a:latin typeface="BIZ UDPゴシック" panose="020B0400000000000000" pitchFamily="50" charset="-128"/>
                <a:ea typeface="BIZ UDPゴシック" panose="020B0400000000000000" pitchFamily="50" charset="-128"/>
              </a:rPr>
              <a:t>）。気が向いたらオフラインも、、、</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kumimoji="1" lang="ja-JP" altLang="en-US" dirty="0">
                <a:latin typeface="BIZ UDPゴシック" panose="020B0400000000000000" pitchFamily="50" charset="-128"/>
                <a:ea typeface="BIZ UDPゴシック" panose="020B0400000000000000" pitchFamily="50" charset="-128"/>
              </a:rPr>
              <a:t>チャタムハウスルール</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発言は発言者・会社名を伏せて扱います。「会社名を出してもいいよ</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むしろ出して」とかその逆の場合には、その都度最初に断ってください。</a:t>
            </a:r>
            <a:endParaRPr kumimoji="1"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議事録</a:t>
            </a:r>
            <a:r>
              <a:rPr kumimoji="1" lang="ja-JP" altLang="en-US" dirty="0">
                <a:latin typeface="BIZ UDPゴシック" panose="020B0400000000000000" pitchFamily="50" charset="-128"/>
                <a:ea typeface="BIZ UDPゴシック" panose="020B0400000000000000" pitchFamily="50" charset="-128"/>
              </a:rPr>
              <a:t>は私</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オリンパスから出します</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発言のみを記載し、発言者・会社名は書きません</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lang="ja-JP" altLang="en-US" dirty="0">
                <a:latin typeface="BIZ UDPゴシック" panose="020B0400000000000000" pitchFamily="50" charset="-128"/>
                <a:ea typeface="BIZ UDPゴシック" panose="020B0400000000000000" pitchFamily="50" charset="-128"/>
              </a:rPr>
              <a:t>メールでの展開とします（会社の</a:t>
            </a:r>
            <a:r>
              <a:rPr lang="en-US" altLang="ja-JP" dirty="0">
                <a:latin typeface="BIZ UDPゴシック" panose="020B0400000000000000" pitchFamily="50" charset="-128"/>
                <a:ea typeface="BIZ UDPゴシック" panose="020B0400000000000000" pitchFamily="50" charset="-128"/>
              </a:rPr>
              <a:t>PC</a:t>
            </a:r>
            <a:r>
              <a:rPr lang="ja-JP" altLang="en-US" dirty="0">
                <a:latin typeface="BIZ UDPゴシック" panose="020B0400000000000000" pitchFamily="50" charset="-128"/>
                <a:ea typeface="BIZ UDPゴシック" panose="020B0400000000000000" pitchFamily="50" charset="-128"/>
              </a:rPr>
              <a:t>からだと</a:t>
            </a:r>
            <a:r>
              <a:rPr lang="en-US" altLang="ja-JP" dirty="0">
                <a:latin typeface="BIZ UDPゴシック" panose="020B0400000000000000" pitchFamily="50" charset="-128"/>
                <a:ea typeface="BIZ UDPゴシック" panose="020B0400000000000000" pitchFamily="50" charset="-128"/>
              </a:rPr>
              <a:t>Slack</a:t>
            </a:r>
            <a:r>
              <a:rPr lang="ja-JP" altLang="en-US" dirty="0">
                <a:latin typeface="BIZ UDPゴシック" panose="020B0400000000000000" pitchFamily="50" charset="-128"/>
                <a:ea typeface="BIZ UDPゴシック" panose="020B0400000000000000" pitchFamily="50" charset="-128"/>
              </a:rPr>
              <a:t>でのファイルのやり取りができないため）</a:t>
            </a: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お願い</a:t>
            </a:r>
            <a:endParaRPr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メールアドレス教えてください（今回会議案内が直接は</a:t>
            </a:r>
            <a:r>
              <a:rPr lang="ja-JP" altLang="en-US" dirty="0">
                <a:latin typeface="BIZ UDPゴシック" panose="020B0400000000000000" pitchFamily="50" charset="-128"/>
                <a:ea typeface="BIZ UDPゴシック" panose="020B0400000000000000" pitchFamily="50" charset="-128"/>
              </a:rPr>
              <a:t>届かなかった</a:t>
            </a:r>
            <a:r>
              <a:rPr kumimoji="1" lang="ja-JP" altLang="en-US" dirty="0">
                <a:latin typeface="BIZ UDPゴシック" panose="020B0400000000000000" pitchFamily="50" charset="-128"/>
                <a:ea typeface="BIZ UDPゴシック" panose="020B0400000000000000" pitchFamily="50" charset="-128"/>
              </a:rPr>
              <a:t>方）</a:t>
            </a:r>
          </a:p>
          <a:p>
            <a:pPr lvl="1"/>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80986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D0F21B-2A1A-AE7A-FFBD-32A64D59972F}"/>
              </a:ext>
            </a:extLst>
          </p:cNvPr>
          <p:cNvSpPr>
            <a:spLocks noGrp="1"/>
          </p:cNvSpPr>
          <p:nvPr>
            <p:ph type="title"/>
          </p:nvPr>
        </p:nvSpPr>
        <p:spPr/>
        <p:txBody>
          <a:bodyPr/>
          <a:lstStyle/>
          <a:p>
            <a:r>
              <a:rPr lang="ja-JP" altLang="en-US" dirty="0">
                <a:latin typeface="BIZ UDPゴシック" panose="020B0400000000000000" pitchFamily="50" charset="-128"/>
                <a:ea typeface="BIZ UDPゴシック" panose="020B0400000000000000" pitchFamily="50" charset="-128"/>
              </a:rPr>
              <a:t>目次</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3DA02B5D-3D44-64F3-68E9-B0656605EF17}"/>
              </a:ext>
            </a:extLst>
          </p:cNvPr>
          <p:cNvSpPr>
            <a:spLocks noGrp="1"/>
          </p:cNvSpPr>
          <p:nvPr>
            <p:ph type="body" idx="1"/>
          </p:nvPr>
        </p:nvSpPr>
        <p:spPr/>
        <p:txBody>
          <a:bodyPr/>
          <a:lstStyle/>
          <a:p>
            <a:pPr>
              <a:lnSpc>
                <a:spcPct val="200000"/>
              </a:lnSpc>
              <a:buFont typeface="+mj-lt"/>
              <a:buAutoNum type="arabicPeriod"/>
            </a:pPr>
            <a:r>
              <a:rPr lang="ja-JP" altLang="en-US" dirty="0">
                <a:latin typeface="BIZ UDPゴシック" panose="020B0400000000000000" pitchFamily="50" charset="-128"/>
                <a:ea typeface="BIZ UDPゴシック" panose="020B0400000000000000" pitchFamily="50" charset="-128"/>
              </a:rPr>
              <a:t>教育資料応用編の進捗状況について</a:t>
            </a:r>
            <a:endParaRPr lang="en-US" altLang="ja-JP" dirty="0">
              <a:latin typeface="BIZ UDPゴシック" panose="020B0400000000000000" pitchFamily="50" charset="-128"/>
              <a:ea typeface="BIZ UDPゴシック" panose="020B0400000000000000" pitchFamily="50" charset="-128"/>
            </a:endParaRPr>
          </a:p>
          <a:p>
            <a:pPr>
              <a:lnSpc>
                <a:spcPct val="200000"/>
              </a:lnSpc>
              <a:buFont typeface="+mj-lt"/>
              <a:buAutoNum type="arabicPeriod"/>
            </a:pPr>
            <a:r>
              <a:rPr lang="en-US" altLang="ja-JP" dirty="0">
                <a:latin typeface="BIZ UDPゴシック" panose="020B0400000000000000" pitchFamily="50" charset="-128"/>
                <a:ea typeface="BIZ UDPゴシック" panose="020B0400000000000000" pitchFamily="50" charset="-128"/>
              </a:rPr>
              <a:t>SBOM</a:t>
            </a:r>
            <a:r>
              <a:rPr lang="ja-JP" altLang="en-US" dirty="0">
                <a:latin typeface="BIZ UDPゴシック" panose="020B0400000000000000" pitchFamily="50" charset="-128"/>
                <a:ea typeface="BIZ UDPゴシック" panose="020B0400000000000000" pitchFamily="50" charset="-128"/>
              </a:rPr>
              <a:t>入門（？）</a:t>
            </a:r>
          </a:p>
          <a:p>
            <a:pPr marL="152396" indent="0">
              <a:lnSpc>
                <a:spcPct val="200000"/>
              </a:lnSpc>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86475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D8EEDE-7757-EC1F-F767-564FB3D9600F}"/>
              </a:ext>
            </a:extLst>
          </p:cNvPr>
          <p:cNvSpPr>
            <a:spLocks noGrp="1"/>
          </p:cNvSpPr>
          <p:nvPr>
            <p:ph type="title"/>
          </p:nvPr>
        </p:nvSpPr>
        <p:spPr/>
        <p:txBody>
          <a:bodyPr>
            <a:normAutofit fontScale="90000"/>
          </a:bodyPr>
          <a:lstStyle/>
          <a:p>
            <a:r>
              <a:rPr lang="ja-JP" altLang="en-US" dirty="0">
                <a:latin typeface="BIZ UDPゴシック" panose="020B0400000000000000" pitchFamily="50" charset="-128"/>
                <a:ea typeface="BIZ UDPゴシック" panose="020B0400000000000000" pitchFamily="50" charset="-128"/>
              </a:rPr>
              <a:t>教育資料応用編の進捗状況について</a:t>
            </a:r>
            <a:br>
              <a:rPr lang="en-US" altLang="ja-JP" dirty="0">
                <a:latin typeface="BIZ UDPゴシック" panose="020B0400000000000000" pitchFamily="50" charset="-128"/>
                <a:ea typeface="BIZ UDPゴシック" panose="020B0400000000000000" pitchFamily="50" charset="-128"/>
              </a:rPr>
            </a:b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61D2D88D-E3BE-F468-1C16-2DB664E8EAF7}"/>
              </a:ext>
            </a:extLst>
          </p:cNvPr>
          <p:cNvSpPr>
            <a:spLocks noGrp="1"/>
          </p:cNvSpPr>
          <p:nvPr>
            <p:ph type="body" idx="1"/>
          </p:nvPr>
        </p:nvSpPr>
        <p:spPr/>
        <p:txBody>
          <a:bodyPr/>
          <a:lstStyle/>
          <a:p>
            <a:pPr marL="152396" indent="0">
              <a:buNone/>
            </a:pPr>
            <a:r>
              <a:rPr lang="ja-JP" altLang="en-US" dirty="0">
                <a:latin typeface="BIZ UDPゴシック" panose="020B0400000000000000" pitchFamily="50" charset="-128"/>
                <a:ea typeface="BIZ UDPゴシック" panose="020B0400000000000000" pitchFamily="50" charset="-128"/>
              </a:rPr>
              <a:t>お待たせしました。ようやく</a:t>
            </a:r>
            <a:r>
              <a:rPr lang="en-US" altLang="ja-JP" dirty="0">
                <a:latin typeface="BIZ UDPゴシック" panose="020B0400000000000000" pitchFamily="50" charset="-128"/>
                <a:ea typeface="BIZ UDPゴシック" panose="020B0400000000000000" pitchFamily="50" charset="-128"/>
              </a:rPr>
              <a:t>Word</a:t>
            </a:r>
            <a:r>
              <a:rPr lang="ja-JP" altLang="en-US" dirty="0">
                <a:latin typeface="BIZ UDPゴシック" panose="020B0400000000000000" pitchFamily="50" charset="-128"/>
                <a:ea typeface="BIZ UDPゴシック" panose="020B0400000000000000" pitchFamily="50" charset="-128"/>
              </a:rPr>
              <a:t>にしました。 （担当</a:t>
            </a:r>
            <a:r>
              <a:rPr lang="en-US" altLang="ja-JP" dirty="0">
                <a:latin typeface="BIZ UDPゴシック" panose="020B0400000000000000" pitchFamily="50" charset="-128"/>
                <a:ea typeface="BIZ UDPゴシック" panose="020B0400000000000000" pitchFamily="50" charset="-128"/>
              </a:rPr>
              <a:t>: </a:t>
            </a:r>
            <a:r>
              <a:rPr lang="ja-JP" altLang="en-US" dirty="0">
                <a:latin typeface="BIZ UDPゴシック" panose="020B0400000000000000" pitchFamily="50" charset="-128"/>
                <a:ea typeface="BIZ UDPゴシック" panose="020B0400000000000000" pitchFamily="50" charset="-128"/>
              </a:rPr>
              <a:t>小泉）</a:t>
            </a: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ja-JP" altLang="en-US" dirty="0">
                <a:latin typeface="BIZ UDPゴシック" panose="020B0400000000000000" pitchFamily="50" charset="-128"/>
                <a:ea typeface="BIZ UDPゴシック" panose="020B0400000000000000" pitchFamily="50" charset="-128"/>
              </a:rPr>
              <a:t>次は最終的な確認です。（皆さん）</a:t>
            </a: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ja-JP" altLang="en-US" dirty="0">
                <a:latin typeface="BIZ UDPゴシック" panose="020B0400000000000000" pitchFamily="50" charset="-128"/>
                <a:ea typeface="BIZ UDPゴシック" panose="020B0400000000000000" pitchFamily="50" charset="-128"/>
              </a:rPr>
              <a:t>でも、前日のことなので、そもそも目を通していない人も多いのではないかと思っています。ということで、最終的な確認、よろしくお願いします。</a:t>
            </a: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734486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241FB7-9214-CC9A-A86D-64F927FFEB7C}"/>
              </a:ext>
            </a:extLst>
          </p:cNvPr>
          <p:cNvSpPr>
            <a:spLocks noGrp="1"/>
          </p:cNvSpPr>
          <p:nvPr>
            <p:ph type="title"/>
          </p:nvPr>
        </p:nvSpPr>
        <p:spPr/>
        <p:txBody>
          <a:bodyPr/>
          <a:lstStyle/>
          <a:p>
            <a:r>
              <a:rPr kumimoji="1" lang="en-US" altLang="ja-JP" dirty="0">
                <a:latin typeface="BIZ UDPゴシック" panose="020B0400000000000000" pitchFamily="50" charset="-128"/>
                <a:ea typeface="BIZ UDPゴシック" panose="020B0400000000000000" pitchFamily="50" charset="-128"/>
              </a:rPr>
              <a:t>SBOM</a:t>
            </a:r>
            <a:r>
              <a:rPr kumimoji="1" lang="ja-JP" altLang="en-US" dirty="0">
                <a:latin typeface="BIZ UDPゴシック" panose="020B0400000000000000" pitchFamily="50" charset="-128"/>
                <a:ea typeface="BIZ UDPゴシック" panose="020B0400000000000000" pitchFamily="50" charset="-128"/>
              </a:rPr>
              <a:t>入門</a:t>
            </a:r>
          </a:p>
        </p:txBody>
      </p:sp>
      <p:sp>
        <p:nvSpPr>
          <p:cNvPr id="3" name="テキスト プレースホルダー 2">
            <a:extLst>
              <a:ext uri="{FF2B5EF4-FFF2-40B4-BE49-F238E27FC236}">
                <a16:creationId xmlns:a16="http://schemas.microsoft.com/office/drawing/2014/main" id="{B0F68CD4-B390-9783-37CE-BE9E6E6B43D8}"/>
              </a:ext>
            </a:extLst>
          </p:cNvPr>
          <p:cNvSpPr>
            <a:spLocks noGrp="1"/>
          </p:cNvSpPr>
          <p:nvPr>
            <p:ph type="body" idx="1"/>
          </p:nvPr>
        </p:nvSpPr>
        <p:spPr/>
        <p:txBody>
          <a:bodyPr/>
          <a:lstStyle/>
          <a:p>
            <a:pPr marL="152396" indent="0">
              <a:buNone/>
            </a:pPr>
            <a:r>
              <a:rPr lang="en-US" altLang="ja-JP" dirty="0">
                <a:hlinkClick r:id="rId2"/>
              </a:rPr>
              <a:t>OpenChain-JWG/subgroups/sbom-sg/outcomes/SPDX-Lite/Guideline/SPDX-Lite-Guideline_jp.md at master · OpenChain-Project/OpenChain-JWG · GitHub</a:t>
            </a:r>
            <a:r>
              <a:rPr lang="ja-JP" altLang="en-US" dirty="0"/>
              <a:t> を読んでいきましょう。（続き、</a:t>
            </a:r>
            <a:r>
              <a:rPr lang="en-US" altLang="ja-JP" dirty="0"/>
              <a:t>2</a:t>
            </a:r>
            <a:r>
              <a:rPr lang="ja-JP" altLang="en-US" dirty="0"/>
              <a:t>章から）</a:t>
            </a:r>
            <a:endParaRPr lang="en-US" altLang="ja-JP" dirty="0"/>
          </a:p>
          <a:p>
            <a:pPr marL="152396" indent="0">
              <a:buNone/>
            </a:pPr>
            <a:endParaRPr kumimoji="1" lang="en-US" altLang="ja-JP" dirty="0"/>
          </a:p>
          <a:p>
            <a:pPr marL="152396" indent="0">
              <a:buNone/>
            </a:pPr>
            <a:endParaRPr kumimoji="1" lang="en-US" altLang="ja-JP" dirty="0"/>
          </a:p>
          <a:p>
            <a:pPr marL="152396" indent="0">
              <a:buNone/>
            </a:pPr>
            <a:r>
              <a:rPr lang="ja-JP" altLang="en-US" dirty="0"/>
              <a:t>問）セキュリティのことが書いてないのだが</a:t>
            </a:r>
            <a:endParaRPr lang="en-US" altLang="ja-JP" dirty="0"/>
          </a:p>
          <a:p>
            <a:pPr marL="152396" indent="0">
              <a:buNone/>
            </a:pPr>
            <a:r>
              <a:rPr kumimoji="1" lang="ja-JP" altLang="en-US" dirty="0"/>
              <a:t>答）</a:t>
            </a:r>
            <a:r>
              <a:rPr kumimoji="1" lang="en-US" altLang="ja-JP" dirty="0"/>
              <a:t>OpenChain</a:t>
            </a:r>
            <a:r>
              <a:rPr lang="ja-JP" altLang="en-US" dirty="0"/>
              <a:t>も最近はセキュリティにも手を広げていますが、</a:t>
            </a:r>
            <a:r>
              <a:rPr lang="en-US" altLang="ja-JP" dirty="0"/>
              <a:t>OpenChain</a:t>
            </a:r>
            <a:r>
              <a:rPr lang="ja-JP" altLang="en-US" dirty="0"/>
              <a:t>の出発点はライセンスコンプライアンスでした。当時の資料だとご理解ください。大幅改定は意図していませんが、ちょっとした追記でセキュリティの視点も追加できるよ、という提案であれば大歓迎です。</a:t>
            </a:r>
            <a:endParaRPr lang="en-US" altLang="ja-JP" dirty="0"/>
          </a:p>
          <a:p>
            <a:pPr marL="152396" indent="0">
              <a:buNone/>
            </a:pPr>
            <a:endParaRPr lang="en-US" altLang="ja-JP" dirty="0"/>
          </a:p>
          <a:p>
            <a:pPr marL="152396" indent="0">
              <a:buNone/>
            </a:pPr>
            <a:r>
              <a:rPr lang="ja-JP" altLang="en-US" dirty="0"/>
              <a:t>問）</a:t>
            </a:r>
            <a:r>
              <a:rPr lang="en-US" altLang="ja-JP" dirty="0"/>
              <a:t>SPDX</a:t>
            </a:r>
            <a:r>
              <a:rPr lang="ja-JP" altLang="en-US" dirty="0"/>
              <a:t>の古いバージョンの話では</a:t>
            </a:r>
            <a:endParaRPr lang="en-US" altLang="ja-JP" dirty="0"/>
          </a:p>
          <a:p>
            <a:pPr marL="152396" indent="0">
              <a:buNone/>
            </a:pPr>
            <a:r>
              <a:rPr lang="ja-JP" altLang="en-US" dirty="0"/>
              <a:t>答）その通りですが、古い方がより単純で分かりやすく、取っ掛かりとしては適切と思ってます。</a:t>
            </a:r>
            <a:endParaRPr lang="en-US" altLang="ja-JP" dirty="0"/>
          </a:p>
          <a:p>
            <a:pPr marL="152396" indent="0">
              <a:buNone/>
            </a:pPr>
            <a:endParaRPr kumimoji="1" lang="ja-JP" altLang="en-US" dirty="0"/>
          </a:p>
        </p:txBody>
      </p:sp>
    </p:spTree>
    <p:extLst>
      <p:ext uri="{BB962C8B-B14F-4D97-AF65-F5344CB8AC3E}">
        <p14:creationId xmlns:p14="http://schemas.microsoft.com/office/powerpoint/2010/main" val="2974871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lstStyle/>
          <a:p>
            <a:r>
              <a:rPr kumimoji="1" lang="ja-JP" altLang="en-US" dirty="0">
                <a:latin typeface="BIZ UDPゴシック" panose="020B0400000000000000" pitchFamily="50" charset="-128"/>
                <a:ea typeface="BIZ UDPゴシック" panose="020B0400000000000000" pitchFamily="50" charset="-128"/>
              </a:rPr>
              <a:t>なにか他にあれば</a:t>
            </a: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教育</a:t>
            </a:r>
            <a:r>
              <a:rPr lang="en-US" altLang="ja-JP" dirty="0">
                <a:latin typeface="BIZ UDPゴシック" panose="020B0400000000000000" pitchFamily="50" charset="-128"/>
                <a:ea typeface="BIZ UDPゴシック" panose="020B0400000000000000" pitchFamily="50" charset="-128"/>
              </a:rPr>
              <a:t>SG</a:t>
            </a:r>
            <a:r>
              <a:rPr lang="ja-JP" altLang="en-US" dirty="0">
                <a:latin typeface="BIZ UDPゴシック" panose="020B0400000000000000" pitchFamily="50" charset="-128"/>
                <a:ea typeface="BIZ UDPゴシック" panose="020B0400000000000000" pitchFamily="50" charset="-128"/>
              </a:rPr>
              <a:t>の</a:t>
            </a:r>
            <a:r>
              <a:rPr lang="en-US" altLang="ja-JP" dirty="0">
                <a:latin typeface="BIZ UDPゴシック" panose="020B0400000000000000" pitchFamily="50" charset="-128"/>
                <a:ea typeface="BIZ UDPゴシック" panose="020B0400000000000000" pitchFamily="50" charset="-128"/>
              </a:rPr>
              <a:t>ML</a:t>
            </a:r>
            <a:r>
              <a:rPr lang="ja-JP" altLang="en-US" dirty="0">
                <a:latin typeface="BIZ UDPゴシック" panose="020B0400000000000000" pitchFamily="50" charset="-128"/>
                <a:ea typeface="BIZ UDPゴシック" panose="020B0400000000000000" pitchFamily="50" charset="-128"/>
              </a:rPr>
              <a:t>への登録、よろしくお願いします。（せっかく作ったので、、、）</a:t>
            </a:r>
            <a:endParaRPr lang="en-US" altLang="ja-JP">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（以下、空白）</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33746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2" name="Title 1">
            <a:extLst>
              <a:ext uri="{FF2B5EF4-FFF2-40B4-BE49-F238E27FC236}">
                <a16:creationId xmlns:a16="http://schemas.microsoft.com/office/drawing/2014/main" id="{7B0585D3-3EA5-46D0-985D-376874F4D979}"/>
              </a:ext>
            </a:extLst>
          </p:cNvPr>
          <p:cNvSpPr>
            <a:spLocks noGrp="1"/>
          </p:cNvSpPr>
          <p:nvPr>
            <p:ph type="title"/>
          </p:nvPr>
        </p:nvSpPr>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kumimoji="1" lang="ja-JP" altLang="en-US" dirty="0"/>
          </a:p>
        </p:txBody>
      </p:sp>
    </p:spTree>
    <p:extLst>
      <p:ext uri="{BB962C8B-B14F-4D97-AF65-F5344CB8AC3E}">
        <p14:creationId xmlns:p14="http://schemas.microsoft.com/office/powerpoint/2010/main" val="3044271733"/>
      </p:ext>
    </p:extLst>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CJWG-Template">
      <a:majorFont>
        <a:latin typeface="游ゴシック Light"/>
        <a:ea typeface="游ゴシック Light"/>
        <a:cs typeface=""/>
      </a:majorFont>
      <a:minorFont>
        <a:latin typeface="游ゴシック"/>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penChainJWG-Template.potx" id="{C20B2CE1-4FCA-4575-9768-E0D663FF81C4}" vid="{D678F007-BB20-40E9-9E1A-243482967CF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TotalTime>
  <Words>1719</Words>
  <Application>Microsoft Office PowerPoint</Application>
  <PresentationFormat>ワイド画面</PresentationFormat>
  <Paragraphs>70</Paragraphs>
  <Slides>12</Slides>
  <Notes>3</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12</vt:i4>
      </vt:variant>
    </vt:vector>
  </HeadingPairs>
  <TitlesOfParts>
    <vt:vector size="22" baseType="lpstr">
      <vt:lpstr>BIZ UDPゴシック</vt:lpstr>
      <vt:lpstr>Open Sans Medium</vt:lpstr>
      <vt:lpstr>游ゴシック</vt:lpstr>
      <vt:lpstr>游ゴシック Medium</vt:lpstr>
      <vt:lpstr>Aptos</vt:lpstr>
      <vt:lpstr>Arial</vt:lpstr>
      <vt:lpstr>Roboto</vt:lpstr>
      <vt:lpstr>Roboto Slab Light</vt:lpstr>
      <vt:lpstr>Wingdings</vt:lpstr>
      <vt:lpstr>Linux Foundation EU Theme 2023</vt:lpstr>
      <vt:lpstr>OpenChain JWG 教育 SG 2026年度 6月</vt:lpstr>
      <vt:lpstr>Anti-Trust Policy Notice</vt:lpstr>
      <vt:lpstr>独占禁止法順守ポリシー (Antitrust Policy)</vt:lpstr>
      <vt:lpstr>Code of Conduct</vt:lpstr>
      <vt:lpstr>【参考】行動規範 (Code of Conduct) </vt:lpstr>
      <vt:lpstr>【参考】行動規範 (Code of Conduct) </vt:lpstr>
      <vt:lpstr>この会の進め方について（再掲、一部追記あり）</vt:lpstr>
      <vt:lpstr>目次</vt:lpstr>
      <vt:lpstr>教育資料応用編の進捗状況について </vt:lpstr>
      <vt:lpstr>SBOM入門</vt:lpstr>
      <vt:lpstr>なにか他にあれば</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OpenChain JWG 教育 SG 9月会合</dc:title>
  <dc:creator>Satoru Koizumi</dc:creator>
  <cp:lastModifiedBy>Satoru Koizumi (小泉　悟)</cp:lastModifiedBy>
  <cp:revision>23</cp:revision>
  <dcterms:created xsi:type="dcterms:W3CDTF">2023-08-30T04:38:36Z</dcterms:created>
  <dcterms:modified xsi:type="dcterms:W3CDTF">2026-06-23T07:23:17Z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102f458-17c3-465c-ab71-cc6f58b773e9_Enabled">
    <vt:lpwstr>true</vt:lpwstr>
  </property>
  <property fmtid="{D5CDD505-2E9C-101B-9397-08002B2CF9AE}" pid="3" name="MSIP_Label_6102f458-17c3-465c-ab71-cc6f58b773e9_SetDate">
    <vt:lpwstr>2025-12-23T09:06:49Z</vt:lpwstr>
  </property>
  <property fmtid="{D5CDD505-2E9C-101B-9397-08002B2CF9AE}" pid="4" name="MSIP_Label_6102f458-17c3-465c-ab71-cc6f58b773e9_Method">
    <vt:lpwstr>Standard</vt:lpwstr>
  </property>
  <property fmtid="{D5CDD505-2E9C-101B-9397-08002B2CF9AE}" pid="5" name="MSIP_Label_6102f458-17c3-465c-ab71-cc6f58b773e9_Name">
    <vt:lpwstr>Internal</vt:lpwstr>
  </property>
  <property fmtid="{D5CDD505-2E9C-101B-9397-08002B2CF9AE}" pid="6" name="MSIP_Label_6102f458-17c3-465c-ab71-cc6f58b773e9_SiteId">
    <vt:lpwstr>e6d7ba17-4378-433f-96fa-a48c4590ca82</vt:lpwstr>
  </property>
  <property fmtid="{D5CDD505-2E9C-101B-9397-08002B2CF9AE}" pid="7" name="MSIP_Label_6102f458-17c3-465c-ab71-cc6f58b773e9_ActionId">
    <vt:lpwstr>ae16a885-0c5f-4634-b0ff-2a497a82341d</vt:lpwstr>
  </property>
  <property fmtid="{D5CDD505-2E9C-101B-9397-08002B2CF9AE}" pid="8" name="MSIP_Label_6102f458-17c3-465c-ab71-cc6f58b773e9_ContentBits">
    <vt:lpwstr>2</vt:lpwstr>
  </property>
  <property fmtid="{D5CDD505-2E9C-101B-9397-08002B2CF9AE}" pid="9" name="MSIP_Label_6102f458-17c3-465c-ab71-cc6f58b773e9_Tag">
    <vt:lpwstr>10, 3, 0, 1</vt:lpwstr>
  </property>
  <property fmtid="{D5CDD505-2E9C-101B-9397-08002B2CF9AE}" pid="10" name="ClassificationContentMarkingFooterLocations">
    <vt:lpwstr>Linux Foundation EU Theme 2023:3</vt:lpwstr>
  </property>
  <property fmtid="{D5CDD505-2E9C-101B-9397-08002B2CF9AE}" pid="11" name="ClassificationContentMarkingFooterText">
    <vt:lpwstr>INTERNAL USE ONLY</vt:lpwstr>
  </property>
</Properties>
</file>